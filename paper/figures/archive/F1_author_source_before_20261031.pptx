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5973D-92BB-400B-8732-00307F0ACC45}" v="16" dt="2026-10-29T00:40:3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ncer Zhang" userId="03a749ca-18af-413e-836c-984e4137a9f8" providerId="ADAL" clId="{34D5639B-1904-4097-95AF-AECCD08AB61D}"/>
    <pc:docChg chg="undo custSel modSld">
      <pc:chgData name="Spencer Zhang" userId="03a749ca-18af-413e-836c-984e4137a9f8" providerId="ADAL" clId="{34D5639B-1904-4097-95AF-AECCD08AB61D}" dt="2026-10-29T00:40:41.211" v="148" actId="20577"/>
      <pc:docMkLst>
        <pc:docMk/>
      </pc:docMkLst>
      <pc:sldChg chg="modSp mod">
        <pc:chgData name="Spencer Zhang" userId="03a749ca-18af-413e-836c-984e4137a9f8" providerId="ADAL" clId="{34D5639B-1904-4097-95AF-AECCD08AB61D}" dt="2026-10-29T00:40:41.211" v="148" actId="20577"/>
        <pc:sldMkLst>
          <pc:docMk/>
          <pc:sldMk cId="0" sldId="256"/>
        </pc:sldMkLst>
        <pc:spChg chg="mod">
          <ac:chgData name="Spencer Zhang" userId="03a749ca-18af-413e-836c-984e4137a9f8" providerId="ADAL" clId="{34D5639B-1904-4097-95AF-AECCD08AB61D}" dt="2026-10-29T00:36:22.020" v="2" actId="20577"/>
          <ac:spMkLst>
            <pc:docMk/>
            <pc:sldMk cId="0" sldId="256"/>
            <ac:spMk id="382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37:42.501" v="11" actId="20577"/>
          <ac:spMkLst>
            <pc:docMk/>
            <pc:sldMk cId="0" sldId="256"/>
            <ac:spMk id="416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38:48.556" v="18" actId="1076"/>
          <ac:spMkLst>
            <pc:docMk/>
            <pc:sldMk cId="0" sldId="256"/>
            <ac:spMk id="426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40:41.211" v="148" actId="20577"/>
          <ac:spMkLst>
            <pc:docMk/>
            <pc:sldMk cId="0" sldId="256"/>
            <ac:spMk id="432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40:00.999" v="46" actId="1076"/>
          <ac:spMkLst>
            <pc:docMk/>
            <pc:sldMk cId="0" sldId="256"/>
            <ac:spMk id="434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40:14.640" v="80" actId="20577"/>
          <ac:spMkLst>
            <pc:docMk/>
            <pc:sldMk cId="0" sldId="256"/>
            <ac:spMk id="438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39:50.091" v="44" actId="1076"/>
          <ac:spMkLst>
            <pc:docMk/>
            <pc:sldMk cId="0" sldId="256"/>
            <ac:spMk id="440" creationId="{00000000-0000-0000-0000-000000000000}"/>
          </ac:spMkLst>
        </pc:spChg>
        <pc:spChg chg="mod">
          <ac:chgData name="Spencer Zhang" userId="03a749ca-18af-413e-836c-984e4137a9f8" providerId="ADAL" clId="{34D5639B-1904-4097-95AF-AECCD08AB61D}" dt="2026-10-29T00:37:15.608" v="8" actId="20577"/>
          <ac:spMkLst>
            <pc:docMk/>
            <pc:sldMk cId="0" sldId="256"/>
            <ac:spMk id="45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68679" y="736087"/>
            <a:ext cx="5436842" cy="4380083"/>
          </a:xfrm>
          <a:prstGeom prst="roundRect">
            <a:avLst>
              <a:gd name="adj" fmla="val 1997"/>
            </a:avLst>
          </a:prstGeom>
          <a:solidFill>
            <a:srgbClr val="FFFFFF"/>
          </a:solidFill>
          <a:ln w="9525">
            <a:solidFill>
              <a:srgbClr val="9AA3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" name="Roundrect 3"/>
          <p:cNvSpPr/>
          <p:nvPr/>
        </p:nvSpPr>
        <p:spPr>
          <a:xfrm>
            <a:off x="5578400" y="736087"/>
            <a:ext cx="6544616" cy="4380083"/>
          </a:xfrm>
          <a:prstGeom prst="roundRect">
            <a:avLst>
              <a:gd name="adj" fmla="val 1997"/>
            </a:avLst>
          </a:prstGeom>
          <a:solidFill>
            <a:srgbClr val="FFFFFF"/>
          </a:solidFill>
          <a:ln w="9525">
            <a:solidFill>
              <a:srgbClr val="9AA3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68679" y="5174474"/>
            <a:ext cx="12054338" cy="1625222"/>
          </a:xfrm>
          <a:prstGeom prst="roundRect">
            <a:avLst>
              <a:gd name="adj" fmla="val 5381"/>
            </a:avLst>
          </a:prstGeom>
          <a:solidFill>
            <a:srgbClr val="FFFFFF"/>
          </a:solidFill>
          <a:ln w="9525">
            <a:solidFill>
              <a:srgbClr val="9AA3A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Roundrect 5"/>
          <p:cNvSpPr/>
          <p:nvPr/>
        </p:nvSpPr>
        <p:spPr>
          <a:xfrm>
            <a:off x="170711" y="1115063"/>
            <a:ext cx="2674693" cy="1268111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8016">
            <a:solidFill>
              <a:srgbClr val="B6D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rect 6"/>
          <p:cNvSpPr/>
          <p:nvPr/>
        </p:nvSpPr>
        <p:spPr>
          <a:xfrm>
            <a:off x="170711" y="2463341"/>
            <a:ext cx="2674693" cy="2324869"/>
          </a:xfrm>
          <a:prstGeom prst="roundRect">
            <a:avLst>
              <a:gd name="adj" fmla="val 3135"/>
            </a:avLst>
          </a:prstGeom>
          <a:solidFill>
            <a:srgbClr val="FFFFFF"/>
          </a:solidFill>
          <a:ln w="8016">
            <a:solidFill>
              <a:srgbClr val="B6D0D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5702296" y="1115063"/>
            <a:ext cx="6325977" cy="134827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016">
            <a:solidFill>
              <a:srgbClr val="B7C5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5702296" y="2514357"/>
            <a:ext cx="6325977" cy="198233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8016">
            <a:solidFill>
              <a:srgbClr val="EDBF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170711" y="5677345"/>
            <a:ext cx="3592980" cy="918287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8016">
            <a:solidFill>
              <a:srgbClr val="B9B6D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4011482" y="5546162"/>
            <a:ext cx="7980351" cy="444567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8016">
            <a:solidFill>
              <a:srgbClr val="B8D9D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4011482" y="6034457"/>
            <a:ext cx="7980351" cy="466431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8016">
            <a:solidFill>
              <a:srgbClr val="C7BDD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272742" y="142844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F0F0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892222" y="142844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EEF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1511701" y="142844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CE7F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2131180" y="142844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FFF2D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Path 16"/>
          <p:cNvSpPr/>
          <p:nvPr/>
        </p:nvSpPr>
        <p:spPr>
          <a:xfrm>
            <a:off x="309182" y="3862635"/>
            <a:ext cx="2397749" cy="5101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9474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Path 17"/>
          <p:cNvSpPr/>
          <p:nvPr/>
        </p:nvSpPr>
        <p:spPr>
          <a:xfrm>
            <a:off x="2845403" y="1741830"/>
            <a:ext cx="262368" cy="59761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noFill/>
          <a:ln w="29151">
            <a:solidFill>
              <a:srgbClr val="365572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Path 18"/>
          <p:cNvSpPr/>
          <p:nvPr/>
        </p:nvSpPr>
        <p:spPr>
          <a:xfrm>
            <a:off x="2845403" y="2893333"/>
            <a:ext cx="262368" cy="41541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29151">
            <a:solidFill>
              <a:srgbClr val="365572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>
            <a:off x="4077074" y="2601813"/>
            <a:ext cx="298808" cy="0"/>
          </a:xfrm>
          <a:prstGeom prst="line">
            <a:avLst/>
          </a:prstGeom>
          <a:noFill/>
          <a:ln w="29151">
            <a:solidFill>
              <a:srgbClr val="365572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>
            <a:off x="4813161" y="3214004"/>
            <a:ext cx="0" cy="298808"/>
          </a:xfrm>
          <a:prstGeom prst="line">
            <a:avLst/>
          </a:prstGeom>
          <a:noFill/>
          <a:ln w="21863">
            <a:solidFill>
              <a:srgbClr val="365572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Path 21"/>
          <p:cNvSpPr/>
          <p:nvPr/>
        </p:nvSpPr>
        <p:spPr>
          <a:xfrm>
            <a:off x="5221289" y="1749118"/>
            <a:ext cx="459143" cy="63405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9600" y="21600"/>
                </a:lnTo>
                <a:lnTo>
                  <a:pt x="9600" y="0"/>
                </a:lnTo>
                <a:lnTo>
                  <a:pt x="21600" y="0"/>
                </a:lnTo>
              </a:path>
            </a:pathLst>
          </a:custGeom>
          <a:noFill/>
          <a:ln w="29151">
            <a:solidFill>
              <a:srgbClr val="28445F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Path 22"/>
          <p:cNvSpPr/>
          <p:nvPr/>
        </p:nvSpPr>
        <p:spPr>
          <a:xfrm>
            <a:off x="5221289" y="2660117"/>
            <a:ext cx="459143" cy="5903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9600" y="0"/>
                </a:lnTo>
                <a:lnTo>
                  <a:pt x="9600" y="21600"/>
                </a:lnTo>
                <a:lnTo>
                  <a:pt x="21600" y="21600"/>
                </a:lnTo>
              </a:path>
            </a:pathLst>
          </a:custGeom>
          <a:noFill/>
          <a:ln w="29151">
            <a:solidFill>
              <a:srgbClr val="28445F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Path 23"/>
          <p:cNvSpPr/>
          <p:nvPr/>
        </p:nvSpPr>
        <p:spPr>
          <a:xfrm>
            <a:off x="5840768" y="1996910"/>
            <a:ext cx="867271" cy="5101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8745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Path 24"/>
          <p:cNvSpPr/>
          <p:nvPr/>
        </p:nvSpPr>
        <p:spPr>
          <a:xfrm>
            <a:off x="6737191" y="1996910"/>
            <a:ext cx="1071335" cy="5101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8745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>
            <a:off x="10570674" y="2769437"/>
            <a:ext cx="0" cy="1282687"/>
          </a:xfrm>
          <a:prstGeom prst="line">
            <a:avLst/>
          </a:prstGeom>
          <a:noFill/>
          <a:ln w="8745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>
            <a:off x="5826192" y="4227035"/>
            <a:ext cx="6085473" cy="0"/>
          </a:xfrm>
          <a:prstGeom prst="line">
            <a:avLst/>
          </a:prstGeom>
          <a:noFill/>
          <a:ln w="8745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4033346" y="6559192"/>
            <a:ext cx="7929335" cy="0"/>
          </a:xfrm>
          <a:prstGeom prst="line">
            <a:avLst/>
          </a:prstGeom>
          <a:noFill/>
          <a:ln w="9474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oundrect 29"/>
          <p:cNvSpPr/>
          <p:nvPr/>
        </p:nvSpPr>
        <p:spPr>
          <a:xfrm>
            <a:off x="323758" y="148675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F0F0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oundrect 30"/>
          <p:cNvSpPr/>
          <p:nvPr/>
        </p:nvSpPr>
        <p:spPr>
          <a:xfrm>
            <a:off x="943238" y="148675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EEF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oundrect 31"/>
          <p:cNvSpPr/>
          <p:nvPr/>
        </p:nvSpPr>
        <p:spPr>
          <a:xfrm>
            <a:off x="1562717" y="148675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CE7F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2182196" y="148675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FFF2D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374774" y="154505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F0F0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994254" y="154505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1EEF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1613733" y="154505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CE7F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oundrect 36"/>
          <p:cNvSpPr/>
          <p:nvPr/>
        </p:nvSpPr>
        <p:spPr>
          <a:xfrm>
            <a:off x="2233212" y="154505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FFF2DC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 37"/>
          <p:cNvSpPr/>
          <p:nvPr/>
        </p:nvSpPr>
        <p:spPr>
          <a:xfrm>
            <a:off x="6751767" y="1719966"/>
            <a:ext cx="138472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Rect 38"/>
          <p:cNvSpPr/>
          <p:nvPr/>
        </p:nvSpPr>
        <p:spPr>
          <a:xfrm>
            <a:off x="6897527" y="1719966"/>
            <a:ext cx="138472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 39"/>
          <p:cNvSpPr/>
          <p:nvPr/>
        </p:nvSpPr>
        <p:spPr>
          <a:xfrm>
            <a:off x="7043286" y="1719966"/>
            <a:ext cx="138472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Rect 40"/>
          <p:cNvSpPr/>
          <p:nvPr/>
        </p:nvSpPr>
        <p:spPr>
          <a:xfrm>
            <a:off x="7400398" y="1719966"/>
            <a:ext cx="131184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Rect 41"/>
          <p:cNvSpPr/>
          <p:nvPr/>
        </p:nvSpPr>
        <p:spPr>
          <a:xfrm>
            <a:off x="7538870" y="1719966"/>
            <a:ext cx="131184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Rect 42"/>
          <p:cNvSpPr/>
          <p:nvPr/>
        </p:nvSpPr>
        <p:spPr>
          <a:xfrm>
            <a:off x="7677342" y="1719966"/>
            <a:ext cx="131184" cy="218640"/>
          </a:xfrm>
          <a:prstGeom prst="rect">
            <a:avLst/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Rect 43"/>
          <p:cNvSpPr/>
          <p:nvPr/>
        </p:nvSpPr>
        <p:spPr>
          <a:xfrm>
            <a:off x="494434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Rect 44"/>
          <p:cNvSpPr/>
          <p:nvPr/>
        </p:nvSpPr>
        <p:spPr>
          <a:xfrm>
            <a:off x="512533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ct 45"/>
          <p:cNvSpPr/>
          <p:nvPr/>
        </p:nvSpPr>
        <p:spPr>
          <a:xfrm>
            <a:off x="530631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ct 46"/>
          <p:cNvSpPr/>
          <p:nvPr/>
        </p:nvSpPr>
        <p:spPr>
          <a:xfrm>
            <a:off x="548730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ect 47"/>
          <p:cNvSpPr/>
          <p:nvPr/>
        </p:nvSpPr>
        <p:spPr>
          <a:xfrm>
            <a:off x="566828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ct 48"/>
          <p:cNvSpPr/>
          <p:nvPr/>
        </p:nvSpPr>
        <p:spPr>
          <a:xfrm>
            <a:off x="5849271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 49"/>
          <p:cNvSpPr/>
          <p:nvPr/>
        </p:nvSpPr>
        <p:spPr>
          <a:xfrm>
            <a:off x="616144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Rect 50"/>
          <p:cNvSpPr/>
          <p:nvPr/>
        </p:nvSpPr>
        <p:spPr>
          <a:xfrm>
            <a:off x="634242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ect 51"/>
          <p:cNvSpPr/>
          <p:nvPr/>
        </p:nvSpPr>
        <p:spPr>
          <a:xfrm>
            <a:off x="652341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Rect 52"/>
          <p:cNvSpPr/>
          <p:nvPr/>
        </p:nvSpPr>
        <p:spPr>
          <a:xfrm>
            <a:off x="670439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Rect 53"/>
          <p:cNvSpPr/>
          <p:nvPr/>
        </p:nvSpPr>
        <p:spPr>
          <a:xfrm>
            <a:off x="688538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ct 54"/>
          <p:cNvSpPr/>
          <p:nvPr/>
        </p:nvSpPr>
        <p:spPr>
          <a:xfrm>
            <a:off x="706636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Rect 55"/>
          <p:cNvSpPr/>
          <p:nvPr/>
        </p:nvSpPr>
        <p:spPr>
          <a:xfrm>
            <a:off x="7378534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ect 56"/>
          <p:cNvSpPr/>
          <p:nvPr/>
        </p:nvSpPr>
        <p:spPr>
          <a:xfrm>
            <a:off x="7559519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Rect 57"/>
          <p:cNvSpPr/>
          <p:nvPr/>
        </p:nvSpPr>
        <p:spPr>
          <a:xfrm>
            <a:off x="7740504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Rect 58"/>
          <p:cNvSpPr/>
          <p:nvPr/>
        </p:nvSpPr>
        <p:spPr>
          <a:xfrm>
            <a:off x="7921489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ect 59"/>
          <p:cNvSpPr/>
          <p:nvPr/>
        </p:nvSpPr>
        <p:spPr>
          <a:xfrm>
            <a:off x="8102475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ect 60"/>
          <p:cNvSpPr/>
          <p:nvPr/>
        </p:nvSpPr>
        <p:spPr>
          <a:xfrm>
            <a:off x="8283460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ect 61"/>
          <p:cNvSpPr/>
          <p:nvPr/>
        </p:nvSpPr>
        <p:spPr>
          <a:xfrm>
            <a:off x="8595629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Rect 62"/>
          <p:cNvSpPr/>
          <p:nvPr/>
        </p:nvSpPr>
        <p:spPr>
          <a:xfrm>
            <a:off x="8776614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Rect 63"/>
          <p:cNvSpPr/>
          <p:nvPr/>
        </p:nvSpPr>
        <p:spPr>
          <a:xfrm>
            <a:off x="8957599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Rect 64"/>
          <p:cNvSpPr/>
          <p:nvPr/>
        </p:nvSpPr>
        <p:spPr>
          <a:xfrm>
            <a:off x="9138584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Rect 65"/>
          <p:cNvSpPr/>
          <p:nvPr/>
        </p:nvSpPr>
        <p:spPr>
          <a:xfrm>
            <a:off x="9319569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ect 66"/>
          <p:cNvSpPr/>
          <p:nvPr/>
        </p:nvSpPr>
        <p:spPr>
          <a:xfrm>
            <a:off x="9500554" y="5640905"/>
            <a:ext cx="180985" cy="174912"/>
          </a:xfrm>
          <a:prstGeom prst="rect">
            <a:avLst/>
          </a:prstGeom>
          <a:solidFill>
            <a:srgbClr val="C9E6E6"/>
          </a:solidFill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Rect 67"/>
          <p:cNvSpPr/>
          <p:nvPr/>
        </p:nvSpPr>
        <p:spPr>
          <a:xfrm>
            <a:off x="4944345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Rect 68"/>
          <p:cNvSpPr/>
          <p:nvPr/>
        </p:nvSpPr>
        <p:spPr>
          <a:xfrm>
            <a:off x="5536494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Rect 69"/>
          <p:cNvSpPr/>
          <p:nvPr/>
        </p:nvSpPr>
        <p:spPr>
          <a:xfrm>
            <a:off x="6128644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Rect 70"/>
          <p:cNvSpPr/>
          <p:nvPr/>
        </p:nvSpPr>
        <p:spPr>
          <a:xfrm>
            <a:off x="6720793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ect 71"/>
          <p:cNvSpPr/>
          <p:nvPr/>
        </p:nvSpPr>
        <p:spPr>
          <a:xfrm>
            <a:off x="7312942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Rect 72"/>
          <p:cNvSpPr/>
          <p:nvPr/>
        </p:nvSpPr>
        <p:spPr>
          <a:xfrm>
            <a:off x="7905091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Rect 73"/>
          <p:cNvSpPr/>
          <p:nvPr/>
        </p:nvSpPr>
        <p:spPr>
          <a:xfrm>
            <a:off x="8497241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Rect 74"/>
          <p:cNvSpPr/>
          <p:nvPr/>
        </p:nvSpPr>
        <p:spPr>
          <a:xfrm>
            <a:off x="9089390" y="6129201"/>
            <a:ext cx="592149" cy="174912"/>
          </a:xfrm>
          <a:prstGeom prst="rect">
            <a:avLst/>
          </a:prstGeom>
          <a:solidFill>
            <a:srgbClr val="DAD2ED"/>
          </a:solidFill>
          <a:ln w="8016">
            <a:solidFill>
              <a:srgbClr val="7063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Ellipse 75"/>
          <p:cNvSpPr/>
          <p:nvPr/>
        </p:nvSpPr>
        <p:spPr>
          <a:xfrm>
            <a:off x="491382" y="2937061"/>
            <a:ext cx="116608" cy="116608"/>
          </a:xfrm>
          <a:prstGeom prst="ellipse">
            <a:avLst/>
          </a:pr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Path 76"/>
          <p:cNvSpPr/>
          <p:nvPr/>
        </p:nvSpPr>
        <p:spPr>
          <a:xfrm>
            <a:off x="425790" y="30828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Ellipse 77"/>
          <p:cNvSpPr/>
          <p:nvPr/>
        </p:nvSpPr>
        <p:spPr>
          <a:xfrm>
            <a:off x="870358" y="2937061"/>
            <a:ext cx="116608" cy="116608"/>
          </a:xfrm>
          <a:prstGeom prst="ellipse">
            <a:avLst/>
          </a:pr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Path 78"/>
          <p:cNvSpPr/>
          <p:nvPr/>
        </p:nvSpPr>
        <p:spPr>
          <a:xfrm>
            <a:off x="804766" y="30828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Ellipse 79"/>
          <p:cNvSpPr/>
          <p:nvPr/>
        </p:nvSpPr>
        <p:spPr>
          <a:xfrm>
            <a:off x="1249333" y="2937061"/>
            <a:ext cx="116608" cy="116608"/>
          </a:xfrm>
          <a:prstGeom prst="ellipse">
            <a:avLst/>
          </a:pr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ath 80"/>
          <p:cNvSpPr/>
          <p:nvPr/>
        </p:nvSpPr>
        <p:spPr>
          <a:xfrm>
            <a:off x="1183741" y="30828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Ellipse 81"/>
          <p:cNvSpPr/>
          <p:nvPr/>
        </p:nvSpPr>
        <p:spPr>
          <a:xfrm>
            <a:off x="1628309" y="2937061"/>
            <a:ext cx="116608" cy="116608"/>
          </a:xfrm>
          <a:prstGeom prst="ellipse">
            <a:avLst/>
          </a:pr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Path 82"/>
          <p:cNvSpPr/>
          <p:nvPr/>
        </p:nvSpPr>
        <p:spPr>
          <a:xfrm>
            <a:off x="1562717" y="30828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8DA6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Ellipse 83"/>
          <p:cNvSpPr/>
          <p:nvPr/>
        </p:nvSpPr>
        <p:spPr>
          <a:xfrm>
            <a:off x="2007284" y="2937061"/>
            <a:ext cx="116608" cy="116608"/>
          </a:xfrm>
          <a:prstGeom prst="ellipse">
            <a:avLst/>
          </a:prstGeom>
          <a:solidFill>
            <a:srgbClr val="E48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Path 84"/>
          <p:cNvSpPr/>
          <p:nvPr/>
        </p:nvSpPr>
        <p:spPr>
          <a:xfrm>
            <a:off x="1941692" y="30828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E4877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Line 85"/>
          <p:cNvSpPr/>
          <p:nvPr/>
        </p:nvSpPr>
        <p:spPr>
          <a:xfrm>
            <a:off x="42442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Line 86"/>
          <p:cNvSpPr/>
          <p:nvPr/>
        </p:nvSpPr>
        <p:spPr>
          <a:xfrm>
            <a:off x="49457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Line 87"/>
          <p:cNvSpPr/>
          <p:nvPr/>
        </p:nvSpPr>
        <p:spPr>
          <a:xfrm flipV="1">
            <a:off x="564718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Line 88"/>
          <p:cNvSpPr/>
          <p:nvPr/>
        </p:nvSpPr>
        <p:spPr>
          <a:xfrm flipV="1">
            <a:off x="63486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Line 89"/>
          <p:cNvSpPr/>
          <p:nvPr/>
        </p:nvSpPr>
        <p:spPr>
          <a:xfrm>
            <a:off x="70501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Line 90"/>
          <p:cNvSpPr/>
          <p:nvPr/>
        </p:nvSpPr>
        <p:spPr>
          <a:xfrm>
            <a:off x="775158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Line 91"/>
          <p:cNvSpPr/>
          <p:nvPr/>
        </p:nvSpPr>
        <p:spPr>
          <a:xfrm flipV="1">
            <a:off x="845305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Line 92"/>
          <p:cNvSpPr/>
          <p:nvPr/>
        </p:nvSpPr>
        <p:spPr>
          <a:xfrm flipV="1">
            <a:off x="915452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Line 93"/>
          <p:cNvSpPr/>
          <p:nvPr/>
        </p:nvSpPr>
        <p:spPr>
          <a:xfrm>
            <a:off x="985599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Line 94"/>
          <p:cNvSpPr/>
          <p:nvPr/>
        </p:nvSpPr>
        <p:spPr>
          <a:xfrm>
            <a:off x="1055746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Line 95"/>
          <p:cNvSpPr/>
          <p:nvPr/>
        </p:nvSpPr>
        <p:spPr>
          <a:xfrm flipV="1">
            <a:off x="1125893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Line 96"/>
          <p:cNvSpPr/>
          <p:nvPr/>
        </p:nvSpPr>
        <p:spPr>
          <a:xfrm flipV="1">
            <a:off x="1196040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Line 97"/>
          <p:cNvSpPr/>
          <p:nvPr/>
        </p:nvSpPr>
        <p:spPr>
          <a:xfrm>
            <a:off x="1266187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" name="Line 98"/>
          <p:cNvSpPr/>
          <p:nvPr/>
        </p:nvSpPr>
        <p:spPr>
          <a:xfrm>
            <a:off x="133633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Line 99"/>
          <p:cNvSpPr/>
          <p:nvPr/>
        </p:nvSpPr>
        <p:spPr>
          <a:xfrm flipV="1">
            <a:off x="140648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" name="Line 100"/>
          <p:cNvSpPr/>
          <p:nvPr/>
        </p:nvSpPr>
        <p:spPr>
          <a:xfrm flipV="1">
            <a:off x="1476627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Line 101"/>
          <p:cNvSpPr/>
          <p:nvPr/>
        </p:nvSpPr>
        <p:spPr>
          <a:xfrm>
            <a:off x="154677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Line 102"/>
          <p:cNvSpPr/>
          <p:nvPr/>
        </p:nvSpPr>
        <p:spPr>
          <a:xfrm>
            <a:off x="161692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Line 103"/>
          <p:cNvSpPr/>
          <p:nvPr/>
        </p:nvSpPr>
        <p:spPr>
          <a:xfrm flipV="1">
            <a:off x="1687068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Line 104"/>
          <p:cNvSpPr/>
          <p:nvPr/>
        </p:nvSpPr>
        <p:spPr>
          <a:xfrm flipV="1">
            <a:off x="1757215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Line 105"/>
          <p:cNvSpPr/>
          <p:nvPr/>
        </p:nvSpPr>
        <p:spPr>
          <a:xfrm>
            <a:off x="1827362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Line 106"/>
          <p:cNvSpPr/>
          <p:nvPr/>
        </p:nvSpPr>
        <p:spPr>
          <a:xfrm>
            <a:off x="1897509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Line 107"/>
          <p:cNvSpPr/>
          <p:nvPr/>
        </p:nvSpPr>
        <p:spPr>
          <a:xfrm flipV="1">
            <a:off x="1967656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Line 108"/>
          <p:cNvSpPr/>
          <p:nvPr/>
        </p:nvSpPr>
        <p:spPr>
          <a:xfrm flipV="1">
            <a:off x="2037803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Line 109"/>
          <p:cNvSpPr/>
          <p:nvPr/>
        </p:nvSpPr>
        <p:spPr>
          <a:xfrm>
            <a:off x="2107950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Line 110"/>
          <p:cNvSpPr/>
          <p:nvPr/>
        </p:nvSpPr>
        <p:spPr>
          <a:xfrm>
            <a:off x="2178097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Line 111"/>
          <p:cNvSpPr/>
          <p:nvPr/>
        </p:nvSpPr>
        <p:spPr>
          <a:xfrm flipV="1">
            <a:off x="224824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Line 112"/>
          <p:cNvSpPr/>
          <p:nvPr/>
        </p:nvSpPr>
        <p:spPr>
          <a:xfrm flipV="1">
            <a:off x="231839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Line 113"/>
          <p:cNvSpPr/>
          <p:nvPr/>
        </p:nvSpPr>
        <p:spPr>
          <a:xfrm>
            <a:off x="2388537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Line 114"/>
          <p:cNvSpPr/>
          <p:nvPr/>
        </p:nvSpPr>
        <p:spPr>
          <a:xfrm>
            <a:off x="2458684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Line 115"/>
          <p:cNvSpPr/>
          <p:nvPr/>
        </p:nvSpPr>
        <p:spPr>
          <a:xfrm flipV="1">
            <a:off x="2528831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Line 116"/>
          <p:cNvSpPr/>
          <p:nvPr/>
        </p:nvSpPr>
        <p:spPr>
          <a:xfrm flipV="1">
            <a:off x="2598978" y="350154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Line 117"/>
          <p:cNvSpPr/>
          <p:nvPr/>
        </p:nvSpPr>
        <p:spPr>
          <a:xfrm>
            <a:off x="374091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Line 118"/>
          <p:cNvSpPr/>
          <p:nvPr/>
        </p:nvSpPr>
        <p:spPr>
          <a:xfrm>
            <a:off x="445604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Line 119"/>
          <p:cNvSpPr/>
          <p:nvPr/>
        </p:nvSpPr>
        <p:spPr>
          <a:xfrm flipV="1">
            <a:off x="517118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Line 120"/>
          <p:cNvSpPr/>
          <p:nvPr/>
        </p:nvSpPr>
        <p:spPr>
          <a:xfrm flipV="1">
            <a:off x="588631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Line 121"/>
          <p:cNvSpPr/>
          <p:nvPr/>
        </p:nvSpPr>
        <p:spPr>
          <a:xfrm>
            <a:off x="660145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Line 122"/>
          <p:cNvSpPr/>
          <p:nvPr/>
        </p:nvSpPr>
        <p:spPr>
          <a:xfrm>
            <a:off x="731658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Line 123"/>
          <p:cNvSpPr/>
          <p:nvPr/>
        </p:nvSpPr>
        <p:spPr>
          <a:xfrm flipV="1">
            <a:off x="803172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Line 124"/>
          <p:cNvSpPr/>
          <p:nvPr/>
        </p:nvSpPr>
        <p:spPr>
          <a:xfrm flipV="1">
            <a:off x="874685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Line 125"/>
          <p:cNvSpPr/>
          <p:nvPr/>
        </p:nvSpPr>
        <p:spPr>
          <a:xfrm>
            <a:off x="946198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Line 126"/>
          <p:cNvSpPr/>
          <p:nvPr/>
        </p:nvSpPr>
        <p:spPr>
          <a:xfrm>
            <a:off x="1017712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Line 127"/>
          <p:cNvSpPr/>
          <p:nvPr/>
        </p:nvSpPr>
        <p:spPr>
          <a:xfrm flipV="1">
            <a:off x="1089225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Line 128"/>
          <p:cNvSpPr/>
          <p:nvPr/>
        </p:nvSpPr>
        <p:spPr>
          <a:xfrm flipV="1">
            <a:off x="1160739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Line 129"/>
          <p:cNvSpPr/>
          <p:nvPr/>
        </p:nvSpPr>
        <p:spPr>
          <a:xfrm>
            <a:off x="1232252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Line 130"/>
          <p:cNvSpPr/>
          <p:nvPr/>
        </p:nvSpPr>
        <p:spPr>
          <a:xfrm>
            <a:off x="1303765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Line 131"/>
          <p:cNvSpPr/>
          <p:nvPr/>
        </p:nvSpPr>
        <p:spPr>
          <a:xfrm flipV="1">
            <a:off x="1375279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Line 132"/>
          <p:cNvSpPr/>
          <p:nvPr/>
        </p:nvSpPr>
        <p:spPr>
          <a:xfrm flipV="1">
            <a:off x="1446792" y="4014281"/>
            <a:ext cx="0" cy="133988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Line 133"/>
          <p:cNvSpPr/>
          <p:nvPr/>
        </p:nvSpPr>
        <p:spPr>
          <a:xfrm>
            <a:off x="1562034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Line 134"/>
          <p:cNvSpPr/>
          <p:nvPr/>
        </p:nvSpPr>
        <p:spPr>
          <a:xfrm>
            <a:off x="1633547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Line 135"/>
          <p:cNvSpPr/>
          <p:nvPr/>
        </p:nvSpPr>
        <p:spPr>
          <a:xfrm flipV="1">
            <a:off x="1705060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6" name="Line 136"/>
          <p:cNvSpPr/>
          <p:nvPr/>
        </p:nvSpPr>
        <p:spPr>
          <a:xfrm flipV="1">
            <a:off x="1776574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Line 137"/>
          <p:cNvSpPr/>
          <p:nvPr/>
        </p:nvSpPr>
        <p:spPr>
          <a:xfrm>
            <a:off x="1848087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Line 138"/>
          <p:cNvSpPr/>
          <p:nvPr/>
        </p:nvSpPr>
        <p:spPr>
          <a:xfrm>
            <a:off x="1919601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Line 139"/>
          <p:cNvSpPr/>
          <p:nvPr/>
        </p:nvSpPr>
        <p:spPr>
          <a:xfrm flipV="1">
            <a:off x="1991114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Line 140"/>
          <p:cNvSpPr/>
          <p:nvPr/>
        </p:nvSpPr>
        <p:spPr>
          <a:xfrm flipV="1">
            <a:off x="2062628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Line 141"/>
          <p:cNvSpPr/>
          <p:nvPr/>
        </p:nvSpPr>
        <p:spPr>
          <a:xfrm>
            <a:off x="2134141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Line 142"/>
          <p:cNvSpPr/>
          <p:nvPr/>
        </p:nvSpPr>
        <p:spPr>
          <a:xfrm>
            <a:off x="2205654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3" name="Line 143"/>
          <p:cNvSpPr/>
          <p:nvPr/>
        </p:nvSpPr>
        <p:spPr>
          <a:xfrm flipV="1">
            <a:off x="2277168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4" name="Line 144"/>
          <p:cNvSpPr/>
          <p:nvPr/>
        </p:nvSpPr>
        <p:spPr>
          <a:xfrm flipV="1">
            <a:off x="2348681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5" name="Line 145"/>
          <p:cNvSpPr/>
          <p:nvPr/>
        </p:nvSpPr>
        <p:spPr>
          <a:xfrm>
            <a:off x="2420195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Line 146"/>
          <p:cNvSpPr/>
          <p:nvPr/>
        </p:nvSpPr>
        <p:spPr>
          <a:xfrm>
            <a:off x="2491708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7" name="Line 147"/>
          <p:cNvSpPr/>
          <p:nvPr/>
        </p:nvSpPr>
        <p:spPr>
          <a:xfrm flipV="1">
            <a:off x="2563221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Line 148"/>
          <p:cNvSpPr/>
          <p:nvPr/>
        </p:nvSpPr>
        <p:spPr>
          <a:xfrm flipV="1">
            <a:off x="2634735" y="4014281"/>
            <a:ext cx="0" cy="133988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Roundrect 149"/>
          <p:cNvSpPr/>
          <p:nvPr/>
        </p:nvSpPr>
        <p:spPr>
          <a:xfrm>
            <a:off x="2962011" y="2354021"/>
            <a:ext cx="1115063" cy="524735"/>
          </a:xfrm>
          <a:prstGeom prst="roundRect">
            <a:avLst>
              <a:gd name="adj" fmla="val 15278"/>
            </a:avLst>
          </a:prstGeom>
          <a:solidFill>
            <a:srgbClr val="E7E0F4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Roundrect 150"/>
          <p:cNvSpPr/>
          <p:nvPr/>
        </p:nvSpPr>
        <p:spPr>
          <a:xfrm>
            <a:off x="4397746" y="2106230"/>
            <a:ext cx="823543" cy="823543"/>
          </a:xfrm>
          <a:prstGeom prst="roundRect">
            <a:avLst>
              <a:gd name="adj" fmla="val 9735"/>
            </a:avLst>
          </a:prstGeom>
          <a:solidFill>
            <a:srgbClr val="E9E3F6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Line 151"/>
          <p:cNvSpPr/>
          <p:nvPr/>
        </p:nvSpPr>
        <p:spPr>
          <a:xfrm>
            <a:off x="5890266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" name="Line 152"/>
          <p:cNvSpPr/>
          <p:nvPr/>
        </p:nvSpPr>
        <p:spPr>
          <a:xfrm>
            <a:off x="5960109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" name="Line 153"/>
          <p:cNvSpPr/>
          <p:nvPr/>
        </p:nvSpPr>
        <p:spPr>
          <a:xfrm flipV="1">
            <a:off x="6029952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" name="Line 154"/>
          <p:cNvSpPr/>
          <p:nvPr/>
        </p:nvSpPr>
        <p:spPr>
          <a:xfrm flipV="1">
            <a:off x="6099795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" name="Line 155"/>
          <p:cNvSpPr/>
          <p:nvPr/>
        </p:nvSpPr>
        <p:spPr>
          <a:xfrm>
            <a:off x="6169639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Line 156"/>
          <p:cNvSpPr/>
          <p:nvPr/>
        </p:nvSpPr>
        <p:spPr>
          <a:xfrm>
            <a:off x="6239482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Line 157"/>
          <p:cNvSpPr/>
          <p:nvPr/>
        </p:nvSpPr>
        <p:spPr>
          <a:xfrm flipV="1">
            <a:off x="6309325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8" name="Line 158"/>
          <p:cNvSpPr/>
          <p:nvPr/>
        </p:nvSpPr>
        <p:spPr>
          <a:xfrm flipV="1">
            <a:off x="6379168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Line 159"/>
          <p:cNvSpPr/>
          <p:nvPr/>
        </p:nvSpPr>
        <p:spPr>
          <a:xfrm>
            <a:off x="6449012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0" name="Line 160"/>
          <p:cNvSpPr/>
          <p:nvPr/>
        </p:nvSpPr>
        <p:spPr>
          <a:xfrm>
            <a:off x="6518855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1" name="Line 161"/>
          <p:cNvSpPr/>
          <p:nvPr/>
        </p:nvSpPr>
        <p:spPr>
          <a:xfrm flipV="1">
            <a:off x="6588698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2" name="Line 162"/>
          <p:cNvSpPr/>
          <p:nvPr/>
        </p:nvSpPr>
        <p:spPr>
          <a:xfrm flipV="1">
            <a:off x="6658541" y="1759715"/>
            <a:ext cx="0" cy="139141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3" name="Line 163"/>
          <p:cNvSpPr/>
          <p:nvPr/>
        </p:nvSpPr>
        <p:spPr>
          <a:xfrm>
            <a:off x="7837678" y="1829286"/>
            <a:ext cx="131184" cy="0"/>
          </a:xfrm>
          <a:prstGeom prst="line">
            <a:avLst/>
          </a:prstGeom>
          <a:noFill/>
          <a:ln w="18219">
            <a:solidFill>
              <a:srgbClr val="16264C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4" name="Roundrect 164"/>
          <p:cNvSpPr/>
          <p:nvPr/>
        </p:nvSpPr>
        <p:spPr>
          <a:xfrm>
            <a:off x="8005301" y="1610646"/>
            <a:ext cx="1129639" cy="444567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2" name="Line 182"/>
          <p:cNvSpPr/>
          <p:nvPr/>
        </p:nvSpPr>
        <p:spPr>
          <a:xfrm>
            <a:off x="5866731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Line 183"/>
          <p:cNvSpPr/>
          <p:nvPr/>
        </p:nvSpPr>
        <p:spPr>
          <a:xfrm>
            <a:off x="5933234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4" name="Line 184"/>
          <p:cNvSpPr/>
          <p:nvPr/>
        </p:nvSpPr>
        <p:spPr>
          <a:xfrm flipV="1">
            <a:off x="5999737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Line 185"/>
          <p:cNvSpPr/>
          <p:nvPr/>
        </p:nvSpPr>
        <p:spPr>
          <a:xfrm flipV="1">
            <a:off x="6066240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6" name="Line 186"/>
          <p:cNvSpPr/>
          <p:nvPr/>
        </p:nvSpPr>
        <p:spPr>
          <a:xfrm>
            <a:off x="6132743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Line 187"/>
          <p:cNvSpPr/>
          <p:nvPr/>
        </p:nvSpPr>
        <p:spPr>
          <a:xfrm>
            <a:off x="6199246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8" name="Line 188"/>
          <p:cNvSpPr/>
          <p:nvPr/>
        </p:nvSpPr>
        <p:spPr>
          <a:xfrm flipV="1">
            <a:off x="6265749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9" name="Line 189"/>
          <p:cNvSpPr/>
          <p:nvPr/>
        </p:nvSpPr>
        <p:spPr>
          <a:xfrm flipV="1">
            <a:off x="6332252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0" name="Line 190"/>
          <p:cNvSpPr/>
          <p:nvPr/>
        </p:nvSpPr>
        <p:spPr>
          <a:xfrm>
            <a:off x="6398755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1" name="Line 191"/>
          <p:cNvSpPr/>
          <p:nvPr/>
        </p:nvSpPr>
        <p:spPr>
          <a:xfrm>
            <a:off x="6465258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2" name="Line 192"/>
          <p:cNvSpPr/>
          <p:nvPr/>
        </p:nvSpPr>
        <p:spPr>
          <a:xfrm flipV="1">
            <a:off x="6531761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3" name="Line 193"/>
          <p:cNvSpPr/>
          <p:nvPr/>
        </p:nvSpPr>
        <p:spPr>
          <a:xfrm flipV="1">
            <a:off x="6598264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4" name="Line 194"/>
          <p:cNvSpPr/>
          <p:nvPr/>
        </p:nvSpPr>
        <p:spPr>
          <a:xfrm>
            <a:off x="6664766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5" name="Line 195"/>
          <p:cNvSpPr/>
          <p:nvPr/>
        </p:nvSpPr>
        <p:spPr>
          <a:xfrm>
            <a:off x="6731269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6" name="Line 196"/>
          <p:cNvSpPr/>
          <p:nvPr/>
        </p:nvSpPr>
        <p:spPr>
          <a:xfrm flipV="1">
            <a:off x="6797772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7" name="Line 197"/>
          <p:cNvSpPr/>
          <p:nvPr/>
        </p:nvSpPr>
        <p:spPr>
          <a:xfrm flipV="1">
            <a:off x="6864275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8" name="Line 198"/>
          <p:cNvSpPr/>
          <p:nvPr/>
        </p:nvSpPr>
        <p:spPr>
          <a:xfrm>
            <a:off x="6930778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9" name="Line 199"/>
          <p:cNvSpPr/>
          <p:nvPr/>
        </p:nvSpPr>
        <p:spPr>
          <a:xfrm>
            <a:off x="6997281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0" name="Line 200"/>
          <p:cNvSpPr/>
          <p:nvPr/>
        </p:nvSpPr>
        <p:spPr>
          <a:xfrm flipV="1">
            <a:off x="7063784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Line 201"/>
          <p:cNvSpPr/>
          <p:nvPr/>
        </p:nvSpPr>
        <p:spPr>
          <a:xfrm flipV="1">
            <a:off x="7130287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Line 202"/>
          <p:cNvSpPr/>
          <p:nvPr/>
        </p:nvSpPr>
        <p:spPr>
          <a:xfrm>
            <a:off x="7196790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Line 203"/>
          <p:cNvSpPr/>
          <p:nvPr/>
        </p:nvSpPr>
        <p:spPr>
          <a:xfrm>
            <a:off x="7263293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Line 204"/>
          <p:cNvSpPr/>
          <p:nvPr/>
        </p:nvSpPr>
        <p:spPr>
          <a:xfrm flipV="1">
            <a:off x="7329796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Line 205"/>
          <p:cNvSpPr/>
          <p:nvPr/>
        </p:nvSpPr>
        <p:spPr>
          <a:xfrm flipV="1">
            <a:off x="7396299" y="3116166"/>
            <a:ext cx="0" cy="108221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Line 206"/>
          <p:cNvSpPr/>
          <p:nvPr/>
        </p:nvSpPr>
        <p:spPr>
          <a:xfrm>
            <a:off x="5866731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Line 207"/>
          <p:cNvSpPr/>
          <p:nvPr/>
        </p:nvSpPr>
        <p:spPr>
          <a:xfrm>
            <a:off x="5933234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Line 208"/>
          <p:cNvSpPr/>
          <p:nvPr/>
        </p:nvSpPr>
        <p:spPr>
          <a:xfrm flipV="1">
            <a:off x="5999737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ine 209"/>
          <p:cNvSpPr/>
          <p:nvPr/>
        </p:nvSpPr>
        <p:spPr>
          <a:xfrm flipV="1">
            <a:off x="6066240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Line 210"/>
          <p:cNvSpPr/>
          <p:nvPr/>
        </p:nvSpPr>
        <p:spPr>
          <a:xfrm>
            <a:off x="6132743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Line 211"/>
          <p:cNvSpPr/>
          <p:nvPr/>
        </p:nvSpPr>
        <p:spPr>
          <a:xfrm>
            <a:off x="6199246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Line 212"/>
          <p:cNvSpPr/>
          <p:nvPr/>
        </p:nvSpPr>
        <p:spPr>
          <a:xfrm flipV="1">
            <a:off x="6265749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Line 213"/>
          <p:cNvSpPr/>
          <p:nvPr/>
        </p:nvSpPr>
        <p:spPr>
          <a:xfrm flipV="1">
            <a:off x="6332252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Line 214"/>
          <p:cNvSpPr/>
          <p:nvPr/>
        </p:nvSpPr>
        <p:spPr>
          <a:xfrm>
            <a:off x="6398755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Line 215"/>
          <p:cNvSpPr/>
          <p:nvPr/>
        </p:nvSpPr>
        <p:spPr>
          <a:xfrm>
            <a:off x="6465258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Line 216"/>
          <p:cNvSpPr/>
          <p:nvPr/>
        </p:nvSpPr>
        <p:spPr>
          <a:xfrm flipV="1">
            <a:off x="6531761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Line 217"/>
          <p:cNvSpPr/>
          <p:nvPr/>
        </p:nvSpPr>
        <p:spPr>
          <a:xfrm flipV="1">
            <a:off x="6598264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Line 218"/>
          <p:cNvSpPr/>
          <p:nvPr/>
        </p:nvSpPr>
        <p:spPr>
          <a:xfrm>
            <a:off x="6664766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Line 219"/>
          <p:cNvSpPr/>
          <p:nvPr/>
        </p:nvSpPr>
        <p:spPr>
          <a:xfrm>
            <a:off x="6731269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Line 220"/>
          <p:cNvSpPr/>
          <p:nvPr/>
        </p:nvSpPr>
        <p:spPr>
          <a:xfrm flipV="1">
            <a:off x="6797772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Line 221"/>
          <p:cNvSpPr/>
          <p:nvPr/>
        </p:nvSpPr>
        <p:spPr>
          <a:xfrm flipV="1">
            <a:off x="6864275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2" name="Line 222"/>
          <p:cNvSpPr/>
          <p:nvPr/>
        </p:nvSpPr>
        <p:spPr>
          <a:xfrm>
            <a:off x="6930778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Line 223"/>
          <p:cNvSpPr/>
          <p:nvPr/>
        </p:nvSpPr>
        <p:spPr>
          <a:xfrm>
            <a:off x="6997281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4" name="Line 224"/>
          <p:cNvSpPr/>
          <p:nvPr/>
        </p:nvSpPr>
        <p:spPr>
          <a:xfrm flipV="1">
            <a:off x="7063784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Line 225"/>
          <p:cNvSpPr/>
          <p:nvPr/>
        </p:nvSpPr>
        <p:spPr>
          <a:xfrm flipV="1">
            <a:off x="7130287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Line 226"/>
          <p:cNvSpPr/>
          <p:nvPr/>
        </p:nvSpPr>
        <p:spPr>
          <a:xfrm>
            <a:off x="7196790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Line 227"/>
          <p:cNvSpPr/>
          <p:nvPr/>
        </p:nvSpPr>
        <p:spPr>
          <a:xfrm>
            <a:off x="7263293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Line 228"/>
          <p:cNvSpPr/>
          <p:nvPr/>
        </p:nvSpPr>
        <p:spPr>
          <a:xfrm flipV="1">
            <a:off x="7329796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Line 229"/>
          <p:cNvSpPr/>
          <p:nvPr/>
        </p:nvSpPr>
        <p:spPr>
          <a:xfrm flipV="1">
            <a:off x="7396299" y="3538869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Line 230"/>
          <p:cNvSpPr/>
          <p:nvPr/>
        </p:nvSpPr>
        <p:spPr>
          <a:xfrm>
            <a:off x="5867870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Line 231"/>
          <p:cNvSpPr/>
          <p:nvPr/>
        </p:nvSpPr>
        <p:spPr>
          <a:xfrm>
            <a:off x="5936651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Line 232"/>
          <p:cNvSpPr/>
          <p:nvPr/>
        </p:nvSpPr>
        <p:spPr>
          <a:xfrm flipV="1">
            <a:off x="6005431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Line 233"/>
          <p:cNvSpPr/>
          <p:nvPr/>
        </p:nvSpPr>
        <p:spPr>
          <a:xfrm flipV="1">
            <a:off x="6074211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4" name="Line 234"/>
          <p:cNvSpPr/>
          <p:nvPr/>
        </p:nvSpPr>
        <p:spPr>
          <a:xfrm>
            <a:off x="6142992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Line 235"/>
          <p:cNvSpPr/>
          <p:nvPr/>
        </p:nvSpPr>
        <p:spPr>
          <a:xfrm>
            <a:off x="6211772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6" name="Line 236"/>
          <p:cNvSpPr/>
          <p:nvPr/>
        </p:nvSpPr>
        <p:spPr>
          <a:xfrm flipV="1">
            <a:off x="6280553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" name="Line 237"/>
          <p:cNvSpPr/>
          <p:nvPr/>
        </p:nvSpPr>
        <p:spPr>
          <a:xfrm flipV="1">
            <a:off x="6349333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8" name="Line 238"/>
          <p:cNvSpPr/>
          <p:nvPr/>
        </p:nvSpPr>
        <p:spPr>
          <a:xfrm>
            <a:off x="6418113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9" name="Line 239"/>
          <p:cNvSpPr/>
          <p:nvPr/>
        </p:nvSpPr>
        <p:spPr>
          <a:xfrm>
            <a:off x="6486894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0" name="Line 240"/>
          <p:cNvSpPr/>
          <p:nvPr/>
        </p:nvSpPr>
        <p:spPr>
          <a:xfrm flipV="1">
            <a:off x="6555674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Line 241"/>
          <p:cNvSpPr/>
          <p:nvPr/>
        </p:nvSpPr>
        <p:spPr>
          <a:xfrm flipV="1">
            <a:off x="6624455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2" name="Line 242"/>
          <p:cNvSpPr/>
          <p:nvPr/>
        </p:nvSpPr>
        <p:spPr>
          <a:xfrm>
            <a:off x="6693235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Line 243"/>
          <p:cNvSpPr/>
          <p:nvPr/>
        </p:nvSpPr>
        <p:spPr>
          <a:xfrm>
            <a:off x="6762016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4" name="Line 244"/>
          <p:cNvSpPr/>
          <p:nvPr/>
        </p:nvSpPr>
        <p:spPr>
          <a:xfrm flipV="1">
            <a:off x="6830796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Line 245"/>
          <p:cNvSpPr/>
          <p:nvPr/>
        </p:nvSpPr>
        <p:spPr>
          <a:xfrm flipV="1">
            <a:off x="6899576" y="3764797"/>
            <a:ext cx="0" cy="108221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6" name="Path 246"/>
          <p:cNvSpPr/>
          <p:nvPr/>
        </p:nvSpPr>
        <p:spPr>
          <a:xfrm>
            <a:off x="7487854" y="3170276"/>
            <a:ext cx="87456" cy="65591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noFill/>
          <a:ln w="11660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7" name="Line 247"/>
          <p:cNvSpPr/>
          <p:nvPr/>
        </p:nvSpPr>
        <p:spPr>
          <a:xfrm>
            <a:off x="7575310" y="3490948"/>
            <a:ext cx="225928" cy="0"/>
          </a:xfrm>
          <a:prstGeom prst="line">
            <a:avLst/>
          </a:prstGeom>
          <a:noFill/>
          <a:ln w="18948">
            <a:solidFill>
              <a:srgbClr val="16264C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8" name="Roundrect 248"/>
          <p:cNvSpPr/>
          <p:nvPr/>
        </p:nvSpPr>
        <p:spPr>
          <a:xfrm>
            <a:off x="7837678" y="3250444"/>
            <a:ext cx="896423" cy="502871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9" name="Line 249"/>
          <p:cNvSpPr/>
          <p:nvPr/>
        </p:nvSpPr>
        <p:spPr>
          <a:xfrm>
            <a:off x="8755964" y="3490948"/>
            <a:ext cx="247792" cy="0"/>
          </a:xfrm>
          <a:prstGeom prst="line">
            <a:avLst/>
          </a:prstGeom>
          <a:noFill/>
          <a:ln w="18948">
            <a:solidFill>
              <a:srgbClr val="16264C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0" name="Roundrect 250"/>
          <p:cNvSpPr/>
          <p:nvPr/>
        </p:nvSpPr>
        <p:spPr>
          <a:xfrm>
            <a:off x="9040196" y="2929773"/>
            <a:ext cx="1355566" cy="1042183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1" name="Path 251"/>
          <p:cNvSpPr/>
          <p:nvPr/>
        </p:nvSpPr>
        <p:spPr>
          <a:xfrm>
            <a:off x="5709584" y="4562283"/>
            <a:ext cx="6311401" cy="5830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</a:path>
            </a:pathLst>
          </a:custGeom>
          <a:noFill/>
          <a:ln w="10203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2" name="Line 252"/>
          <p:cNvSpPr/>
          <p:nvPr/>
        </p:nvSpPr>
        <p:spPr>
          <a:xfrm>
            <a:off x="510513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3" name="Line 253"/>
          <p:cNvSpPr/>
          <p:nvPr/>
        </p:nvSpPr>
        <p:spPr>
          <a:xfrm>
            <a:off x="577927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4" name="Line 254"/>
          <p:cNvSpPr/>
          <p:nvPr/>
        </p:nvSpPr>
        <p:spPr>
          <a:xfrm flipV="1">
            <a:off x="645341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5" name="Line 255"/>
          <p:cNvSpPr/>
          <p:nvPr/>
        </p:nvSpPr>
        <p:spPr>
          <a:xfrm flipV="1">
            <a:off x="712755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6" name="Line 256"/>
          <p:cNvSpPr/>
          <p:nvPr/>
        </p:nvSpPr>
        <p:spPr>
          <a:xfrm>
            <a:off x="780169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7" name="Line 257"/>
          <p:cNvSpPr/>
          <p:nvPr/>
        </p:nvSpPr>
        <p:spPr>
          <a:xfrm>
            <a:off x="847583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8" name="Line 258"/>
          <p:cNvSpPr/>
          <p:nvPr/>
        </p:nvSpPr>
        <p:spPr>
          <a:xfrm flipV="1">
            <a:off x="914997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9" name="Line 259"/>
          <p:cNvSpPr/>
          <p:nvPr/>
        </p:nvSpPr>
        <p:spPr>
          <a:xfrm flipV="1">
            <a:off x="982411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0" name="Line 260"/>
          <p:cNvSpPr/>
          <p:nvPr/>
        </p:nvSpPr>
        <p:spPr>
          <a:xfrm>
            <a:off x="1049824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1" name="Line 261"/>
          <p:cNvSpPr/>
          <p:nvPr/>
        </p:nvSpPr>
        <p:spPr>
          <a:xfrm>
            <a:off x="1117238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2" name="Line 262"/>
          <p:cNvSpPr/>
          <p:nvPr/>
        </p:nvSpPr>
        <p:spPr>
          <a:xfrm flipV="1">
            <a:off x="1184652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3" name="Line 263"/>
          <p:cNvSpPr/>
          <p:nvPr/>
        </p:nvSpPr>
        <p:spPr>
          <a:xfrm flipV="1">
            <a:off x="1252066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4" name="Line 264"/>
          <p:cNvSpPr/>
          <p:nvPr/>
        </p:nvSpPr>
        <p:spPr>
          <a:xfrm>
            <a:off x="1319480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5" name="Line 265"/>
          <p:cNvSpPr/>
          <p:nvPr/>
        </p:nvSpPr>
        <p:spPr>
          <a:xfrm>
            <a:off x="1386894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6" name="Line 266"/>
          <p:cNvSpPr/>
          <p:nvPr/>
        </p:nvSpPr>
        <p:spPr>
          <a:xfrm flipV="1">
            <a:off x="1454308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7" name="Line 267"/>
          <p:cNvSpPr/>
          <p:nvPr/>
        </p:nvSpPr>
        <p:spPr>
          <a:xfrm flipV="1">
            <a:off x="1521722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8" name="Line 268"/>
          <p:cNvSpPr/>
          <p:nvPr/>
        </p:nvSpPr>
        <p:spPr>
          <a:xfrm>
            <a:off x="1589136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9" name="Line 269"/>
          <p:cNvSpPr/>
          <p:nvPr/>
        </p:nvSpPr>
        <p:spPr>
          <a:xfrm>
            <a:off x="1656550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0" name="Line 270"/>
          <p:cNvSpPr/>
          <p:nvPr/>
        </p:nvSpPr>
        <p:spPr>
          <a:xfrm flipV="1">
            <a:off x="1723964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1" name="Line 271"/>
          <p:cNvSpPr/>
          <p:nvPr/>
        </p:nvSpPr>
        <p:spPr>
          <a:xfrm flipV="1">
            <a:off x="1791378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2" name="Line 272"/>
          <p:cNvSpPr/>
          <p:nvPr/>
        </p:nvSpPr>
        <p:spPr>
          <a:xfrm>
            <a:off x="2135735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3" name="Line 273"/>
          <p:cNvSpPr/>
          <p:nvPr/>
        </p:nvSpPr>
        <p:spPr>
          <a:xfrm>
            <a:off x="2203149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4" name="Line 274"/>
          <p:cNvSpPr/>
          <p:nvPr/>
        </p:nvSpPr>
        <p:spPr>
          <a:xfrm flipV="1">
            <a:off x="2270563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5" name="Line 275"/>
          <p:cNvSpPr/>
          <p:nvPr/>
        </p:nvSpPr>
        <p:spPr>
          <a:xfrm flipV="1">
            <a:off x="2337977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6" name="Line 276"/>
          <p:cNvSpPr/>
          <p:nvPr/>
        </p:nvSpPr>
        <p:spPr>
          <a:xfrm>
            <a:off x="2405391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7" name="Line 277"/>
          <p:cNvSpPr/>
          <p:nvPr/>
        </p:nvSpPr>
        <p:spPr>
          <a:xfrm>
            <a:off x="2472805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8" name="Line 278"/>
          <p:cNvSpPr/>
          <p:nvPr/>
        </p:nvSpPr>
        <p:spPr>
          <a:xfrm flipV="1">
            <a:off x="2540219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9" name="Line 279"/>
          <p:cNvSpPr/>
          <p:nvPr/>
        </p:nvSpPr>
        <p:spPr>
          <a:xfrm flipV="1">
            <a:off x="2607633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0" name="Line 280"/>
          <p:cNvSpPr/>
          <p:nvPr/>
        </p:nvSpPr>
        <p:spPr>
          <a:xfrm>
            <a:off x="2675047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1" name="Line 281"/>
          <p:cNvSpPr/>
          <p:nvPr/>
        </p:nvSpPr>
        <p:spPr>
          <a:xfrm>
            <a:off x="2742461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2" name="Line 282"/>
          <p:cNvSpPr/>
          <p:nvPr/>
        </p:nvSpPr>
        <p:spPr>
          <a:xfrm flipV="1">
            <a:off x="2809874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3" name="Line 283"/>
          <p:cNvSpPr/>
          <p:nvPr/>
        </p:nvSpPr>
        <p:spPr>
          <a:xfrm flipV="1">
            <a:off x="2877288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4" name="Line 284"/>
          <p:cNvSpPr/>
          <p:nvPr/>
        </p:nvSpPr>
        <p:spPr>
          <a:xfrm>
            <a:off x="2944702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5" name="Line 285"/>
          <p:cNvSpPr/>
          <p:nvPr/>
        </p:nvSpPr>
        <p:spPr>
          <a:xfrm>
            <a:off x="3012116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6" name="Line 286"/>
          <p:cNvSpPr/>
          <p:nvPr/>
        </p:nvSpPr>
        <p:spPr>
          <a:xfrm flipV="1">
            <a:off x="3079530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7" name="Line 287"/>
          <p:cNvSpPr/>
          <p:nvPr/>
        </p:nvSpPr>
        <p:spPr>
          <a:xfrm flipV="1">
            <a:off x="3146944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8" name="Line 288"/>
          <p:cNvSpPr/>
          <p:nvPr/>
        </p:nvSpPr>
        <p:spPr>
          <a:xfrm>
            <a:off x="3214358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9" name="Line 289"/>
          <p:cNvSpPr/>
          <p:nvPr/>
        </p:nvSpPr>
        <p:spPr>
          <a:xfrm>
            <a:off x="3281772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0" name="Line 290"/>
          <p:cNvSpPr/>
          <p:nvPr/>
        </p:nvSpPr>
        <p:spPr>
          <a:xfrm flipV="1">
            <a:off x="3349186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1" name="Line 291"/>
          <p:cNvSpPr/>
          <p:nvPr/>
        </p:nvSpPr>
        <p:spPr>
          <a:xfrm flipV="1">
            <a:off x="3416600" y="6064341"/>
            <a:ext cx="0" cy="144295"/>
          </a:xfrm>
          <a:prstGeom prst="line">
            <a:avLst/>
          </a:prstGeom>
          <a:noFill/>
          <a:ln w="8016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2" name="Line 292"/>
          <p:cNvSpPr/>
          <p:nvPr/>
        </p:nvSpPr>
        <p:spPr>
          <a:xfrm>
            <a:off x="9827299" y="5728361"/>
            <a:ext cx="451855" cy="0"/>
          </a:xfrm>
          <a:prstGeom prst="line">
            <a:avLst/>
          </a:prstGeom>
          <a:noFill/>
          <a:ln w="18948">
            <a:solidFill>
              <a:srgbClr val="16264C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3" name="Line 293"/>
          <p:cNvSpPr/>
          <p:nvPr/>
        </p:nvSpPr>
        <p:spPr>
          <a:xfrm>
            <a:off x="9827299" y="6216657"/>
            <a:ext cx="451855" cy="0"/>
          </a:xfrm>
          <a:prstGeom prst="line">
            <a:avLst/>
          </a:prstGeom>
          <a:noFill/>
          <a:ln w="18948">
            <a:solidFill>
              <a:srgbClr val="16264C"/>
            </a:solidFill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4" name="Path 294"/>
          <p:cNvSpPr/>
          <p:nvPr/>
        </p:nvSpPr>
        <p:spPr>
          <a:xfrm>
            <a:off x="389350" y="3439932"/>
            <a:ext cx="2244701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450" y="0"/>
                  <a:pt x="900" y="0"/>
                  <a:pt x="1350" y="10800"/>
                </a:cubicBezTo>
                <a:cubicBezTo>
                  <a:pt x="1800" y="21600"/>
                  <a:pt x="2250" y="21600"/>
                  <a:pt x="2700" y="10800"/>
                </a:cubicBezTo>
                <a:cubicBezTo>
                  <a:pt x="3150" y="0"/>
                  <a:pt x="3600" y="0"/>
                  <a:pt x="4050" y="10800"/>
                </a:cubicBezTo>
                <a:cubicBezTo>
                  <a:pt x="4500" y="21600"/>
                  <a:pt x="4950" y="21600"/>
                  <a:pt x="5400" y="10800"/>
                </a:cubicBezTo>
                <a:cubicBezTo>
                  <a:pt x="5850" y="0"/>
                  <a:pt x="6300" y="0"/>
                  <a:pt x="6750" y="10800"/>
                </a:cubicBezTo>
                <a:cubicBezTo>
                  <a:pt x="7200" y="21600"/>
                  <a:pt x="7650" y="21600"/>
                  <a:pt x="8100" y="10800"/>
                </a:cubicBezTo>
                <a:cubicBezTo>
                  <a:pt x="8550" y="0"/>
                  <a:pt x="9000" y="0"/>
                  <a:pt x="9450" y="10800"/>
                </a:cubicBezTo>
                <a:cubicBezTo>
                  <a:pt x="9900" y="21600"/>
                  <a:pt x="10350" y="21600"/>
                  <a:pt x="10800" y="10800"/>
                </a:cubicBezTo>
                <a:cubicBezTo>
                  <a:pt x="11250" y="0"/>
                  <a:pt x="11700" y="0"/>
                  <a:pt x="12150" y="10800"/>
                </a:cubicBezTo>
                <a:cubicBezTo>
                  <a:pt x="12600" y="21600"/>
                  <a:pt x="13050" y="21600"/>
                  <a:pt x="13500" y="10800"/>
                </a:cubicBezTo>
                <a:cubicBezTo>
                  <a:pt x="13950" y="0"/>
                  <a:pt x="14400" y="0"/>
                  <a:pt x="14850" y="10800"/>
                </a:cubicBezTo>
                <a:cubicBezTo>
                  <a:pt x="15300" y="21600"/>
                  <a:pt x="15750" y="21600"/>
                  <a:pt x="16200" y="10800"/>
                </a:cubicBezTo>
                <a:cubicBezTo>
                  <a:pt x="16650" y="0"/>
                  <a:pt x="17100" y="0"/>
                  <a:pt x="17550" y="10800"/>
                </a:cubicBezTo>
                <a:cubicBezTo>
                  <a:pt x="18000" y="21600"/>
                  <a:pt x="18450" y="21600"/>
                  <a:pt x="18900" y="10800"/>
                </a:cubicBezTo>
                <a:cubicBezTo>
                  <a:pt x="19350" y="0"/>
                  <a:pt x="19800" y="0"/>
                  <a:pt x="20250" y="10800"/>
                </a:cubicBezTo>
                <a:cubicBezTo>
                  <a:pt x="20700" y="21600"/>
                  <a:pt x="21150" y="2160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5" name="Path 295"/>
          <p:cNvSpPr/>
          <p:nvPr/>
        </p:nvSpPr>
        <p:spPr>
          <a:xfrm>
            <a:off x="389350" y="3439932"/>
            <a:ext cx="2244701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450" y="21600"/>
                  <a:pt x="900" y="21600"/>
                  <a:pt x="1350" y="10800"/>
                </a:cubicBezTo>
                <a:cubicBezTo>
                  <a:pt x="1800" y="0"/>
                  <a:pt x="2250" y="0"/>
                  <a:pt x="2700" y="10800"/>
                </a:cubicBezTo>
                <a:cubicBezTo>
                  <a:pt x="3150" y="21600"/>
                  <a:pt x="3600" y="21600"/>
                  <a:pt x="4050" y="10800"/>
                </a:cubicBezTo>
                <a:cubicBezTo>
                  <a:pt x="4500" y="0"/>
                  <a:pt x="4950" y="0"/>
                  <a:pt x="5400" y="10800"/>
                </a:cubicBezTo>
                <a:cubicBezTo>
                  <a:pt x="5850" y="21600"/>
                  <a:pt x="6300" y="21600"/>
                  <a:pt x="6750" y="10800"/>
                </a:cubicBezTo>
                <a:cubicBezTo>
                  <a:pt x="7200" y="0"/>
                  <a:pt x="7650" y="0"/>
                  <a:pt x="8100" y="10800"/>
                </a:cubicBezTo>
                <a:cubicBezTo>
                  <a:pt x="8550" y="21600"/>
                  <a:pt x="9000" y="21600"/>
                  <a:pt x="9450" y="10800"/>
                </a:cubicBezTo>
                <a:cubicBezTo>
                  <a:pt x="9900" y="0"/>
                  <a:pt x="10350" y="0"/>
                  <a:pt x="10800" y="10800"/>
                </a:cubicBezTo>
                <a:cubicBezTo>
                  <a:pt x="11250" y="21600"/>
                  <a:pt x="11700" y="21600"/>
                  <a:pt x="12150" y="10800"/>
                </a:cubicBezTo>
                <a:cubicBezTo>
                  <a:pt x="12600" y="0"/>
                  <a:pt x="13050" y="0"/>
                  <a:pt x="13500" y="10800"/>
                </a:cubicBezTo>
                <a:cubicBezTo>
                  <a:pt x="13950" y="21600"/>
                  <a:pt x="14400" y="21600"/>
                  <a:pt x="14850" y="10800"/>
                </a:cubicBezTo>
                <a:cubicBezTo>
                  <a:pt x="15300" y="0"/>
                  <a:pt x="15750" y="0"/>
                  <a:pt x="16200" y="10800"/>
                </a:cubicBezTo>
                <a:cubicBezTo>
                  <a:pt x="16650" y="21600"/>
                  <a:pt x="17100" y="21600"/>
                  <a:pt x="17550" y="10800"/>
                </a:cubicBezTo>
                <a:cubicBezTo>
                  <a:pt x="18000" y="0"/>
                  <a:pt x="18450" y="0"/>
                  <a:pt x="18900" y="10800"/>
                </a:cubicBezTo>
                <a:cubicBezTo>
                  <a:pt x="19350" y="21600"/>
                  <a:pt x="19800" y="21600"/>
                  <a:pt x="20250" y="10800"/>
                </a:cubicBezTo>
                <a:cubicBezTo>
                  <a:pt x="20700" y="0"/>
                  <a:pt x="21150" y="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6" name="Path 296"/>
          <p:cNvSpPr/>
          <p:nvPr/>
        </p:nvSpPr>
        <p:spPr>
          <a:xfrm>
            <a:off x="338334" y="3954950"/>
            <a:ext cx="1144215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7" name="Path 297"/>
          <p:cNvSpPr/>
          <p:nvPr/>
        </p:nvSpPr>
        <p:spPr>
          <a:xfrm>
            <a:off x="338334" y="3954950"/>
            <a:ext cx="1144215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8" name="Path 298"/>
          <p:cNvSpPr/>
          <p:nvPr/>
        </p:nvSpPr>
        <p:spPr>
          <a:xfrm>
            <a:off x="1526277" y="3954950"/>
            <a:ext cx="1144215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9" name="Path 299"/>
          <p:cNvSpPr/>
          <p:nvPr/>
        </p:nvSpPr>
        <p:spPr>
          <a:xfrm>
            <a:off x="1526277" y="3954950"/>
            <a:ext cx="1144215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0" name="Path 300"/>
          <p:cNvSpPr/>
          <p:nvPr/>
        </p:nvSpPr>
        <p:spPr>
          <a:xfrm>
            <a:off x="5855344" y="1698102"/>
            <a:ext cx="838119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1200" y="0"/>
                  <a:pt x="2400" y="0"/>
                  <a:pt x="3600" y="10800"/>
                </a:cubicBezTo>
                <a:cubicBezTo>
                  <a:pt x="4800" y="21600"/>
                  <a:pt x="6000" y="21600"/>
                  <a:pt x="7200" y="10800"/>
                </a:cubicBezTo>
                <a:cubicBezTo>
                  <a:pt x="8400" y="0"/>
                  <a:pt x="9600" y="0"/>
                  <a:pt x="10800" y="10800"/>
                </a:cubicBezTo>
                <a:cubicBezTo>
                  <a:pt x="12000" y="21600"/>
                  <a:pt x="13200" y="21600"/>
                  <a:pt x="14400" y="10800"/>
                </a:cubicBezTo>
                <a:cubicBezTo>
                  <a:pt x="15600" y="0"/>
                  <a:pt x="16800" y="0"/>
                  <a:pt x="18000" y="10800"/>
                </a:cubicBezTo>
                <a:cubicBezTo>
                  <a:pt x="19200" y="21600"/>
                  <a:pt x="20400" y="2160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Path 301"/>
          <p:cNvSpPr/>
          <p:nvPr/>
        </p:nvSpPr>
        <p:spPr>
          <a:xfrm>
            <a:off x="5855344" y="1698102"/>
            <a:ext cx="838119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1200" y="21600"/>
                  <a:pt x="2400" y="21600"/>
                  <a:pt x="3600" y="10800"/>
                </a:cubicBezTo>
                <a:cubicBezTo>
                  <a:pt x="4800" y="0"/>
                  <a:pt x="6000" y="0"/>
                  <a:pt x="7200" y="10800"/>
                </a:cubicBezTo>
                <a:cubicBezTo>
                  <a:pt x="8400" y="21600"/>
                  <a:pt x="9600" y="21600"/>
                  <a:pt x="10800" y="10800"/>
                </a:cubicBezTo>
                <a:cubicBezTo>
                  <a:pt x="12000" y="0"/>
                  <a:pt x="13200" y="0"/>
                  <a:pt x="14400" y="10800"/>
                </a:cubicBezTo>
                <a:cubicBezTo>
                  <a:pt x="15600" y="21600"/>
                  <a:pt x="16800" y="21600"/>
                  <a:pt x="18000" y="10800"/>
                </a:cubicBezTo>
                <a:cubicBezTo>
                  <a:pt x="19200" y="0"/>
                  <a:pt x="20400" y="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Path 304"/>
          <p:cNvSpPr/>
          <p:nvPr/>
        </p:nvSpPr>
        <p:spPr>
          <a:xfrm>
            <a:off x="5833480" y="3068244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0"/>
                  <a:pt x="1200" y="0"/>
                  <a:pt x="1800" y="10800"/>
                </a:cubicBezTo>
                <a:cubicBezTo>
                  <a:pt x="2400" y="21600"/>
                  <a:pt x="3000" y="21600"/>
                  <a:pt x="3600" y="10800"/>
                </a:cubicBezTo>
                <a:cubicBezTo>
                  <a:pt x="4200" y="0"/>
                  <a:pt x="4800" y="0"/>
                  <a:pt x="5400" y="10800"/>
                </a:cubicBezTo>
                <a:cubicBezTo>
                  <a:pt x="6000" y="21600"/>
                  <a:pt x="6600" y="21600"/>
                  <a:pt x="7200" y="10800"/>
                </a:cubicBezTo>
                <a:cubicBezTo>
                  <a:pt x="7800" y="0"/>
                  <a:pt x="8400" y="0"/>
                  <a:pt x="9000" y="10800"/>
                </a:cubicBezTo>
                <a:cubicBezTo>
                  <a:pt x="9600" y="21600"/>
                  <a:pt x="10200" y="21600"/>
                  <a:pt x="10800" y="10800"/>
                </a:cubicBezTo>
                <a:cubicBezTo>
                  <a:pt x="11400" y="0"/>
                  <a:pt x="12000" y="0"/>
                  <a:pt x="12600" y="10800"/>
                </a:cubicBezTo>
                <a:cubicBezTo>
                  <a:pt x="13200" y="21600"/>
                  <a:pt x="13800" y="21600"/>
                  <a:pt x="14400" y="10800"/>
                </a:cubicBezTo>
                <a:cubicBezTo>
                  <a:pt x="15000" y="0"/>
                  <a:pt x="15600" y="0"/>
                  <a:pt x="16200" y="10800"/>
                </a:cubicBezTo>
                <a:cubicBezTo>
                  <a:pt x="16800" y="21600"/>
                  <a:pt x="17400" y="21600"/>
                  <a:pt x="18000" y="10800"/>
                </a:cubicBezTo>
                <a:cubicBezTo>
                  <a:pt x="18600" y="0"/>
                  <a:pt x="19200" y="0"/>
                  <a:pt x="19800" y="10800"/>
                </a:cubicBezTo>
                <a:cubicBezTo>
                  <a:pt x="20400" y="21600"/>
                  <a:pt x="21000" y="2160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Path 305"/>
          <p:cNvSpPr/>
          <p:nvPr/>
        </p:nvSpPr>
        <p:spPr>
          <a:xfrm>
            <a:off x="5833480" y="3068244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21600"/>
                  <a:pt x="1200" y="21600"/>
                  <a:pt x="1800" y="10800"/>
                </a:cubicBezTo>
                <a:cubicBezTo>
                  <a:pt x="2400" y="0"/>
                  <a:pt x="3000" y="0"/>
                  <a:pt x="3600" y="10800"/>
                </a:cubicBezTo>
                <a:cubicBezTo>
                  <a:pt x="4200" y="21600"/>
                  <a:pt x="4800" y="21600"/>
                  <a:pt x="5400" y="10800"/>
                </a:cubicBezTo>
                <a:cubicBezTo>
                  <a:pt x="6000" y="0"/>
                  <a:pt x="6600" y="0"/>
                  <a:pt x="7200" y="10800"/>
                </a:cubicBezTo>
                <a:cubicBezTo>
                  <a:pt x="7800" y="21600"/>
                  <a:pt x="8400" y="21600"/>
                  <a:pt x="9000" y="10800"/>
                </a:cubicBezTo>
                <a:cubicBezTo>
                  <a:pt x="9600" y="0"/>
                  <a:pt x="10200" y="0"/>
                  <a:pt x="10800" y="10800"/>
                </a:cubicBezTo>
                <a:cubicBezTo>
                  <a:pt x="11400" y="21600"/>
                  <a:pt x="12000" y="21600"/>
                  <a:pt x="12600" y="10800"/>
                </a:cubicBezTo>
                <a:cubicBezTo>
                  <a:pt x="13200" y="0"/>
                  <a:pt x="13800" y="0"/>
                  <a:pt x="14400" y="10800"/>
                </a:cubicBezTo>
                <a:cubicBezTo>
                  <a:pt x="15000" y="21600"/>
                  <a:pt x="15600" y="21600"/>
                  <a:pt x="16200" y="10800"/>
                </a:cubicBezTo>
                <a:cubicBezTo>
                  <a:pt x="16800" y="0"/>
                  <a:pt x="17400" y="0"/>
                  <a:pt x="18000" y="10800"/>
                </a:cubicBezTo>
                <a:cubicBezTo>
                  <a:pt x="18600" y="21600"/>
                  <a:pt x="19200" y="21600"/>
                  <a:pt x="19800" y="10800"/>
                </a:cubicBezTo>
                <a:cubicBezTo>
                  <a:pt x="20400" y="0"/>
                  <a:pt x="21000" y="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Path 306"/>
          <p:cNvSpPr/>
          <p:nvPr/>
        </p:nvSpPr>
        <p:spPr>
          <a:xfrm>
            <a:off x="5833480" y="3490948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0"/>
                  <a:pt x="1200" y="0"/>
                  <a:pt x="1800" y="10800"/>
                </a:cubicBezTo>
                <a:cubicBezTo>
                  <a:pt x="2400" y="21600"/>
                  <a:pt x="3000" y="21600"/>
                  <a:pt x="3600" y="10800"/>
                </a:cubicBezTo>
                <a:cubicBezTo>
                  <a:pt x="4200" y="0"/>
                  <a:pt x="4800" y="0"/>
                  <a:pt x="5400" y="10800"/>
                </a:cubicBezTo>
                <a:cubicBezTo>
                  <a:pt x="6000" y="21600"/>
                  <a:pt x="6600" y="21600"/>
                  <a:pt x="7200" y="10800"/>
                </a:cubicBezTo>
                <a:cubicBezTo>
                  <a:pt x="7800" y="0"/>
                  <a:pt x="8400" y="0"/>
                  <a:pt x="9000" y="10800"/>
                </a:cubicBezTo>
                <a:cubicBezTo>
                  <a:pt x="9600" y="21600"/>
                  <a:pt x="10200" y="21600"/>
                  <a:pt x="10800" y="10800"/>
                </a:cubicBezTo>
                <a:cubicBezTo>
                  <a:pt x="11400" y="0"/>
                  <a:pt x="12000" y="0"/>
                  <a:pt x="12600" y="10800"/>
                </a:cubicBezTo>
                <a:cubicBezTo>
                  <a:pt x="13200" y="21600"/>
                  <a:pt x="13800" y="21600"/>
                  <a:pt x="14400" y="10800"/>
                </a:cubicBezTo>
                <a:cubicBezTo>
                  <a:pt x="15000" y="0"/>
                  <a:pt x="15600" y="0"/>
                  <a:pt x="16200" y="10800"/>
                </a:cubicBezTo>
                <a:cubicBezTo>
                  <a:pt x="16800" y="21600"/>
                  <a:pt x="17400" y="21600"/>
                  <a:pt x="18000" y="10800"/>
                </a:cubicBezTo>
                <a:cubicBezTo>
                  <a:pt x="18600" y="0"/>
                  <a:pt x="19200" y="0"/>
                  <a:pt x="19800" y="10800"/>
                </a:cubicBezTo>
                <a:cubicBezTo>
                  <a:pt x="20400" y="21600"/>
                  <a:pt x="21000" y="2160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Path 307"/>
          <p:cNvSpPr/>
          <p:nvPr/>
        </p:nvSpPr>
        <p:spPr>
          <a:xfrm>
            <a:off x="5833480" y="3490948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21600"/>
                  <a:pt x="1200" y="21600"/>
                  <a:pt x="1800" y="10800"/>
                </a:cubicBezTo>
                <a:cubicBezTo>
                  <a:pt x="2400" y="0"/>
                  <a:pt x="3000" y="0"/>
                  <a:pt x="3600" y="10800"/>
                </a:cubicBezTo>
                <a:cubicBezTo>
                  <a:pt x="4200" y="21600"/>
                  <a:pt x="4800" y="21600"/>
                  <a:pt x="5400" y="10800"/>
                </a:cubicBezTo>
                <a:cubicBezTo>
                  <a:pt x="6000" y="0"/>
                  <a:pt x="6600" y="0"/>
                  <a:pt x="7200" y="10800"/>
                </a:cubicBezTo>
                <a:cubicBezTo>
                  <a:pt x="7800" y="21600"/>
                  <a:pt x="8400" y="21600"/>
                  <a:pt x="9000" y="10800"/>
                </a:cubicBezTo>
                <a:cubicBezTo>
                  <a:pt x="9600" y="0"/>
                  <a:pt x="10200" y="0"/>
                  <a:pt x="10800" y="10800"/>
                </a:cubicBezTo>
                <a:cubicBezTo>
                  <a:pt x="11400" y="21600"/>
                  <a:pt x="12000" y="21600"/>
                  <a:pt x="12600" y="10800"/>
                </a:cubicBezTo>
                <a:cubicBezTo>
                  <a:pt x="13200" y="0"/>
                  <a:pt x="13800" y="0"/>
                  <a:pt x="14400" y="10800"/>
                </a:cubicBezTo>
                <a:cubicBezTo>
                  <a:pt x="15000" y="21600"/>
                  <a:pt x="15600" y="21600"/>
                  <a:pt x="16200" y="10800"/>
                </a:cubicBezTo>
                <a:cubicBezTo>
                  <a:pt x="16800" y="0"/>
                  <a:pt x="17400" y="0"/>
                  <a:pt x="18000" y="10800"/>
                </a:cubicBezTo>
                <a:cubicBezTo>
                  <a:pt x="18600" y="21600"/>
                  <a:pt x="19200" y="21600"/>
                  <a:pt x="19800" y="10800"/>
                </a:cubicBezTo>
                <a:cubicBezTo>
                  <a:pt x="20400" y="0"/>
                  <a:pt x="21000" y="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Path 308"/>
          <p:cNvSpPr/>
          <p:nvPr/>
        </p:nvSpPr>
        <p:spPr>
          <a:xfrm>
            <a:off x="5833480" y="3716876"/>
            <a:ext cx="1100487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9" name="Path 309"/>
          <p:cNvSpPr/>
          <p:nvPr/>
        </p:nvSpPr>
        <p:spPr>
          <a:xfrm>
            <a:off x="5833480" y="3716876"/>
            <a:ext cx="1100487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0" name="Path 310"/>
          <p:cNvSpPr/>
          <p:nvPr/>
        </p:nvSpPr>
        <p:spPr>
          <a:xfrm>
            <a:off x="476806" y="6000446"/>
            <a:ext cx="1348278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0"/>
                  <a:pt x="1440" y="0"/>
                  <a:pt x="2160" y="10800"/>
                </a:cubicBezTo>
                <a:cubicBezTo>
                  <a:pt x="2880" y="21600"/>
                  <a:pt x="3600" y="21600"/>
                  <a:pt x="4320" y="10800"/>
                </a:cubicBezTo>
                <a:cubicBezTo>
                  <a:pt x="5040" y="0"/>
                  <a:pt x="5760" y="0"/>
                  <a:pt x="6480" y="10800"/>
                </a:cubicBezTo>
                <a:cubicBezTo>
                  <a:pt x="7200" y="21600"/>
                  <a:pt x="7920" y="21600"/>
                  <a:pt x="8640" y="10800"/>
                </a:cubicBezTo>
                <a:cubicBezTo>
                  <a:pt x="9360" y="0"/>
                  <a:pt x="10080" y="0"/>
                  <a:pt x="10800" y="10800"/>
                </a:cubicBezTo>
                <a:cubicBezTo>
                  <a:pt x="11520" y="21600"/>
                  <a:pt x="12240" y="21600"/>
                  <a:pt x="12960" y="10800"/>
                </a:cubicBezTo>
                <a:cubicBezTo>
                  <a:pt x="13680" y="0"/>
                  <a:pt x="14400" y="0"/>
                  <a:pt x="15120" y="10800"/>
                </a:cubicBezTo>
                <a:cubicBezTo>
                  <a:pt x="15840" y="21600"/>
                  <a:pt x="16560" y="21600"/>
                  <a:pt x="17280" y="10800"/>
                </a:cubicBezTo>
                <a:cubicBezTo>
                  <a:pt x="18000" y="0"/>
                  <a:pt x="18720" y="0"/>
                  <a:pt x="19440" y="10800"/>
                </a:cubicBezTo>
                <a:cubicBezTo>
                  <a:pt x="20160" y="21600"/>
                  <a:pt x="20880" y="2160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Path 311"/>
          <p:cNvSpPr/>
          <p:nvPr/>
        </p:nvSpPr>
        <p:spPr>
          <a:xfrm>
            <a:off x="476806" y="6000446"/>
            <a:ext cx="1348278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21600"/>
                  <a:pt x="1440" y="21600"/>
                  <a:pt x="2160" y="10800"/>
                </a:cubicBezTo>
                <a:cubicBezTo>
                  <a:pt x="2880" y="0"/>
                  <a:pt x="3600" y="0"/>
                  <a:pt x="4320" y="10800"/>
                </a:cubicBezTo>
                <a:cubicBezTo>
                  <a:pt x="5040" y="21600"/>
                  <a:pt x="5760" y="21600"/>
                  <a:pt x="6480" y="10800"/>
                </a:cubicBezTo>
                <a:cubicBezTo>
                  <a:pt x="7200" y="0"/>
                  <a:pt x="7920" y="0"/>
                  <a:pt x="8640" y="10800"/>
                </a:cubicBezTo>
                <a:cubicBezTo>
                  <a:pt x="9360" y="21600"/>
                  <a:pt x="10080" y="21600"/>
                  <a:pt x="10800" y="10800"/>
                </a:cubicBezTo>
                <a:cubicBezTo>
                  <a:pt x="11520" y="0"/>
                  <a:pt x="12240" y="0"/>
                  <a:pt x="12960" y="10800"/>
                </a:cubicBezTo>
                <a:cubicBezTo>
                  <a:pt x="13680" y="21600"/>
                  <a:pt x="14400" y="21600"/>
                  <a:pt x="15120" y="10800"/>
                </a:cubicBezTo>
                <a:cubicBezTo>
                  <a:pt x="15840" y="0"/>
                  <a:pt x="16560" y="0"/>
                  <a:pt x="17280" y="10800"/>
                </a:cubicBezTo>
                <a:cubicBezTo>
                  <a:pt x="18000" y="21600"/>
                  <a:pt x="18720" y="21600"/>
                  <a:pt x="19440" y="10800"/>
                </a:cubicBezTo>
                <a:cubicBezTo>
                  <a:pt x="20160" y="0"/>
                  <a:pt x="20880" y="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2" name="Path 312"/>
          <p:cNvSpPr/>
          <p:nvPr/>
        </p:nvSpPr>
        <p:spPr>
          <a:xfrm>
            <a:off x="2102028" y="6000446"/>
            <a:ext cx="1348278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0"/>
                  <a:pt x="1440" y="0"/>
                  <a:pt x="2160" y="10800"/>
                </a:cubicBezTo>
                <a:cubicBezTo>
                  <a:pt x="2880" y="21600"/>
                  <a:pt x="3600" y="21600"/>
                  <a:pt x="4320" y="10800"/>
                </a:cubicBezTo>
                <a:cubicBezTo>
                  <a:pt x="5040" y="0"/>
                  <a:pt x="5760" y="0"/>
                  <a:pt x="6480" y="10800"/>
                </a:cubicBezTo>
                <a:cubicBezTo>
                  <a:pt x="7200" y="21600"/>
                  <a:pt x="7920" y="21600"/>
                  <a:pt x="8640" y="10800"/>
                </a:cubicBezTo>
                <a:cubicBezTo>
                  <a:pt x="9360" y="0"/>
                  <a:pt x="10080" y="0"/>
                  <a:pt x="10800" y="10800"/>
                </a:cubicBezTo>
                <a:cubicBezTo>
                  <a:pt x="11520" y="21600"/>
                  <a:pt x="12240" y="21600"/>
                  <a:pt x="12960" y="10800"/>
                </a:cubicBezTo>
                <a:cubicBezTo>
                  <a:pt x="13680" y="0"/>
                  <a:pt x="14400" y="0"/>
                  <a:pt x="15120" y="10800"/>
                </a:cubicBezTo>
                <a:cubicBezTo>
                  <a:pt x="15840" y="21600"/>
                  <a:pt x="16560" y="21600"/>
                  <a:pt x="17280" y="10800"/>
                </a:cubicBezTo>
                <a:cubicBezTo>
                  <a:pt x="18000" y="0"/>
                  <a:pt x="18720" y="0"/>
                  <a:pt x="19440" y="10800"/>
                </a:cubicBezTo>
                <a:cubicBezTo>
                  <a:pt x="20160" y="21600"/>
                  <a:pt x="20880" y="2160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3" name="Path 313"/>
          <p:cNvSpPr/>
          <p:nvPr/>
        </p:nvSpPr>
        <p:spPr>
          <a:xfrm>
            <a:off x="2102028" y="6000446"/>
            <a:ext cx="1348278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21600"/>
                  <a:pt x="1440" y="21600"/>
                  <a:pt x="2160" y="10800"/>
                </a:cubicBezTo>
                <a:cubicBezTo>
                  <a:pt x="2880" y="0"/>
                  <a:pt x="3600" y="0"/>
                  <a:pt x="4320" y="10800"/>
                </a:cubicBezTo>
                <a:cubicBezTo>
                  <a:pt x="5040" y="21600"/>
                  <a:pt x="5760" y="21600"/>
                  <a:pt x="6480" y="10800"/>
                </a:cubicBezTo>
                <a:cubicBezTo>
                  <a:pt x="7200" y="0"/>
                  <a:pt x="7920" y="0"/>
                  <a:pt x="8640" y="10800"/>
                </a:cubicBezTo>
                <a:cubicBezTo>
                  <a:pt x="9360" y="21600"/>
                  <a:pt x="10080" y="21600"/>
                  <a:pt x="10800" y="10800"/>
                </a:cubicBezTo>
                <a:cubicBezTo>
                  <a:pt x="11520" y="0"/>
                  <a:pt x="12240" y="0"/>
                  <a:pt x="12960" y="10800"/>
                </a:cubicBezTo>
                <a:cubicBezTo>
                  <a:pt x="13680" y="21600"/>
                  <a:pt x="14400" y="21600"/>
                  <a:pt x="15120" y="10800"/>
                </a:cubicBezTo>
                <a:cubicBezTo>
                  <a:pt x="15840" y="0"/>
                  <a:pt x="16560" y="0"/>
                  <a:pt x="17280" y="10800"/>
                </a:cubicBezTo>
                <a:cubicBezTo>
                  <a:pt x="18000" y="21600"/>
                  <a:pt x="18720" y="21600"/>
                  <a:pt x="19440" y="10800"/>
                </a:cubicBezTo>
                <a:cubicBezTo>
                  <a:pt x="20160" y="0"/>
                  <a:pt x="20880" y="0"/>
                  <a:pt x="21600" y="10800"/>
                </a:cubicBezTo>
              </a:path>
            </a:pathLst>
          </a:custGeom>
          <a:noFill/>
          <a:ln w="25507">
            <a:solidFill>
              <a:srgbClr val="3F718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Roundrect 314"/>
          <p:cNvSpPr/>
          <p:nvPr/>
        </p:nvSpPr>
        <p:spPr>
          <a:xfrm>
            <a:off x="4485201" y="2208261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5" name="Roundrect 315"/>
          <p:cNvSpPr/>
          <p:nvPr/>
        </p:nvSpPr>
        <p:spPr>
          <a:xfrm>
            <a:off x="4718417" y="2208261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Roundrect 316"/>
          <p:cNvSpPr/>
          <p:nvPr/>
        </p:nvSpPr>
        <p:spPr>
          <a:xfrm>
            <a:off x="4951633" y="2208261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7" name="Roundrect 317"/>
          <p:cNvSpPr/>
          <p:nvPr/>
        </p:nvSpPr>
        <p:spPr>
          <a:xfrm>
            <a:off x="4485201" y="2434189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8" name="Roundrect 318"/>
          <p:cNvSpPr/>
          <p:nvPr/>
        </p:nvSpPr>
        <p:spPr>
          <a:xfrm>
            <a:off x="4718417" y="2434189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9" name="Roundrect 319"/>
          <p:cNvSpPr/>
          <p:nvPr/>
        </p:nvSpPr>
        <p:spPr>
          <a:xfrm>
            <a:off x="4951633" y="2434189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0" name="Roundrect 320"/>
          <p:cNvSpPr/>
          <p:nvPr/>
        </p:nvSpPr>
        <p:spPr>
          <a:xfrm>
            <a:off x="4485201" y="2660117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Roundrect 321"/>
          <p:cNvSpPr/>
          <p:nvPr/>
        </p:nvSpPr>
        <p:spPr>
          <a:xfrm>
            <a:off x="4718417" y="2660117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2" name="Roundrect 322"/>
          <p:cNvSpPr/>
          <p:nvPr/>
        </p:nvSpPr>
        <p:spPr>
          <a:xfrm>
            <a:off x="4951633" y="2660117"/>
            <a:ext cx="174912" cy="174912"/>
          </a:xfrm>
          <a:prstGeom prst="roundRect">
            <a:avLst>
              <a:gd name="adj" fmla="val 12500"/>
            </a:avLst>
          </a:prstGeom>
          <a:solidFill>
            <a:srgbClr val="CFC6E7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3" name="Roundrect 323"/>
          <p:cNvSpPr/>
          <p:nvPr/>
        </p:nvSpPr>
        <p:spPr>
          <a:xfrm>
            <a:off x="9091212" y="2980789"/>
            <a:ext cx="1253535" cy="233216"/>
          </a:xfrm>
          <a:prstGeom prst="roundRect">
            <a:avLst>
              <a:gd name="adj" fmla="val 12500"/>
            </a:avLst>
          </a:prstGeom>
          <a:solidFill>
            <a:srgbClr val="F7C8B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Roundrect 324"/>
          <p:cNvSpPr/>
          <p:nvPr/>
        </p:nvSpPr>
        <p:spPr>
          <a:xfrm>
            <a:off x="9091212" y="3367052"/>
            <a:ext cx="1253535" cy="225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Roundrect 325"/>
          <p:cNvSpPr/>
          <p:nvPr/>
        </p:nvSpPr>
        <p:spPr>
          <a:xfrm>
            <a:off x="9091212" y="3614844"/>
            <a:ext cx="1253535" cy="233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Roundrect 326"/>
          <p:cNvSpPr/>
          <p:nvPr/>
        </p:nvSpPr>
        <p:spPr>
          <a:xfrm>
            <a:off x="1854237" y="6005305"/>
            <a:ext cx="204064" cy="276944"/>
          </a:xfrm>
          <a:prstGeom prst="roundRect">
            <a:avLst>
              <a:gd name="adj" fmla="val 7143"/>
            </a:avLst>
          </a:prstGeom>
          <a:solidFill>
            <a:srgbClr val="DCD4EE"/>
          </a:solidFill>
          <a:ln w="8016">
            <a:solidFill>
              <a:srgbClr val="8C80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7" name="Path 327"/>
          <p:cNvSpPr/>
          <p:nvPr/>
        </p:nvSpPr>
        <p:spPr>
          <a:xfrm>
            <a:off x="9448324" y="3005082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8" name="Path 328"/>
          <p:cNvSpPr/>
          <p:nvPr/>
        </p:nvSpPr>
        <p:spPr>
          <a:xfrm>
            <a:off x="9448324" y="3005082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9" name="Line 329"/>
          <p:cNvSpPr/>
          <p:nvPr/>
        </p:nvSpPr>
        <p:spPr>
          <a:xfrm>
            <a:off x="9474970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0" name="Line 330"/>
          <p:cNvSpPr/>
          <p:nvPr/>
        </p:nvSpPr>
        <p:spPr>
          <a:xfrm>
            <a:off x="9528264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1" name="Line 331"/>
          <p:cNvSpPr/>
          <p:nvPr/>
        </p:nvSpPr>
        <p:spPr>
          <a:xfrm flipV="1">
            <a:off x="9581557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2" name="Line 332"/>
          <p:cNvSpPr/>
          <p:nvPr/>
        </p:nvSpPr>
        <p:spPr>
          <a:xfrm flipV="1">
            <a:off x="9634851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3" name="Line 333"/>
          <p:cNvSpPr/>
          <p:nvPr/>
        </p:nvSpPr>
        <p:spPr>
          <a:xfrm>
            <a:off x="9688144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4" name="Line 334"/>
          <p:cNvSpPr/>
          <p:nvPr/>
        </p:nvSpPr>
        <p:spPr>
          <a:xfrm>
            <a:off x="9741438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5" name="Line 335"/>
          <p:cNvSpPr/>
          <p:nvPr/>
        </p:nvSpPr>
        <p:spPr>
          <a:xfrm flipV="1">
            <a:off x="9794731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6" name="Line 336"/>
          <p:cNvSpPr/>
          <p:nvPr/>
        </p:nvSpPr>
        <p:spPr>
          <a:xfrm flipV="1">
            <a:off x="9848024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7" name="Line 337"/>
          <p:cNvSpPr/>
          <p:nvPr/>
        </p:nvSpPr>
        <p:spPr>
          <a:xfrm>
            <a:off x="9901318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8" name="Line 338"/>
          <p:cNvSpPr/>
          <p:nvPr/>
        </p:nvSpPr>
        <p:spPr>
          <a:xfrm>
            <a:off x="9954611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9" name="Line 339"/>
          <p:cNvSpPr/>
          <p:nvPr/>
        </p:nvSpPr>
        <p:spPr>
          <a:xfrm flipV="1">
            <a:off x="10007905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0" name="Line 340"/>
          <p:cNvSpPr/>
          <p:nvPr/>
        </p:nvSpPr>
        <p:spPr>
          <a:xfrm flipV="1">
            <a:off x="10061198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1" name="Line 341"/>
          <p:cNvSpPr/>
          <p:nvPr/>
        </p:nvSpPr>
        <p:spPr>
          <a:xfrm>
            <a:off x="10114492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2" name="Line 342"/>
          <p:cNvSpPr/>
          <p:nvPr/>
        </p:nvSpPr>
        <p:spPr>
          <a:xfrm>
            <a:off x="10167785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3" name="Line 343"/>
          <p:cNvSpPr/>
          <p:nvPr/>
        </p:nvSpPr>
        <p:spPr>
          <a:xfrm flipV="1">
            <a:off x="10221079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4" name="Line 344"/>
          <p:cNvSpPr/>
          <p:nvPr/>
        </p:nvSpPr>
        <p:spPr>
          <a:xfrm flipV="1">
            <a:off x="10274372" y="3048439"/>
            <a:ext cx="0" cy="97914"/>
          </a:xfrm>
          <a:prstGeom prst="line">
            <a:avLst/>
          </a:prstGeom>
          <a:noFill/>
          <a:ln w="8016">
            <a:solidFill>
              <a:srgbClr val="D366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5" name="Path 345"/>
          <p:cNvSpPr/>
          <p:nvPr/>
        </p:nvSpPr>
        <p:spPr>
          <a:xfrm>
            <a:off x="9448324" y="3391345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6" name="Path 346"/>
          <p:cNvSpPr/>
          <p:nvPr/>
        </p:nvSpPr>
        <p:spPr>
          <a:xfrm>
            <a:off x="9448324" y="3391345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7" name="Line 347"/>
          <p:cNvSpPr/>
          <p:nvPr/>
        </p:nvSpPr>
        <p:spPr>
          <a:xfrm>
            <a:off x="9474970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8" name="Line 348"/>
          <p:cNvSpPr/>
          <p:nvPr/>
        </p:nvSpPr>
        <p:spPr>
          <a:xfrm>
            <a:off x="9528264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9" name="Line 349"/>
          <p:cNvSpPr/>
          <p:nvPr/>
        </p:nvSpPr>
        <p:spPr>
          <a:xfrm flipV="1">
            <a:off x="9581557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0" name="Line 350"/>
          <p:cNvSpPr/>
          <p:nvPr/>
        </p:nvSpPr>
        <p:spPr>
          <a:xfrm flipV="1">
            <a:off x="9634851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1" name="Line 351"/>
          <p:cNvSpPr/>
          <p:nvPr/>
        </p:nvSpPr>
        <p:spPr>
          <a:xfrm>
            <a:off x="9688144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2" name="Line 352"/>
          <p:cNvSpPr/>
          <p:nvPr/>
        </p:nvSpPr>
        <p:spPr>
          <a:xfrm>
            <a:off x="9741438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3" name="Line 353"/>
          <p:cNvSpPr/>
          <p:nvPr/>
        </p:nvSpPr>
        <p:spPr>
          <a:xfrm flipV="1">
            <a:off x="9794731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4" name="Line 354"/>
          <p:cNvSpPr/>
          <p:nvPr/>
        </p:nvSpPr>
        <p:spPr>
          <a:xfrm flipV="1">
            <a:off x="9848024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5" name="Line 355"/>
          <p:cNvSpPr/>
          <p:nvPr/>
        </p:nvSpPr>
        <p:spPr>
          <a:xfrm>
            <a:off x="9901318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6" name="Line 356"/>
          <p:cNvSpPr/>
          <p:nvPr/>
        </p:nvSpPr>
        <p:spPr>
          <a:xfrm>
            <a:off x="9954611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7" name="Line 357"/>
          <p:cNvSpPr/>
          <p:nvPr/>
        </p:nvSpPr>
        <p:spPr>
          <a:xfrm flipV="1">
            <a:off x="10007905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8" name="Line 358"/>
          <p:cNvSpPr/>
          <p:nvPr/>
        </p:nvSpPr>
        <p:spPr>
          <a:xfrm flipV="1">
            <a:off x="10061198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9" name="Line 359"/>
          <p:cNvSpPr/>
          <p:nvPr/>
        </p:nvSpPr>
        <p:spPr>
          <a:xfrm>
            <a:off x="10114492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0" name="Line 360"/>
          <p:cNvSpPr/>
          <p:nvPr/>
        </p:nvSpPr>
        <p:spPr>
          <a:xfrm>
            <a:off x="10167785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1" name="Line 361"/>
          <p:cNvSpPr/>
          <p:nvPr/>
        </p:nvSpPr>
        <p:spPr>
          <a:xfrm flipV="1">
            <a:off x="10221079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2" name="Line 362"/>
          <p:cNvSpPr/>
          <p:nvPr/>
        </p:nvSpPr>
        <p:spPr>
          <a:xfrm flipV="1">
            <a:off x="10274372" y="3434703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3" name="Path 363"/>
          <p:cNvSpPr/>
          <p:nvPr/>
        </p:nvSpPr>
        <p:spPr>
          <a:xfrm>
            <a:off x="9448324" y="3639137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4" name="Path 364"/>
          <p:cNvSpPr/>
          <p:nvPr/>
        </p:nvSpPr>
        <p:spPr>
          <a:xfrm>
            <a:off x="9448324" y="3639137"/>
            <a:ext cx="852695" cy="18462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5" name="Line 365"/>
          <p:cNvSpPr/>
          <p:nvPr/>
        </p:nvSpPr>
        <p:spPr>
          <a:xfrm>
            <a:off x="9474970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6" name="Line 366"/>
          <p:cNvSpPr/>
          <p:nvPr/>
        </p:nvSpPr>
        <p:spPr>
          <a:xfrm>
            <a:off x="9528264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7" name="Line 367"/>
          <p:cNvSpPr/>
          <p:nvPr/>
        </p:nvSpPr>
        <p:spPr>
          <a:xfrm flipV="1">
            <a:off x="9581557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8" name="Line 368"/>
          <p:cNvSpPr/>
          <p:nvPr/>
        </p:nvSpPr>
        <p:spPr>
          <a:xfrm flipV="1">
            <a:off x="9634851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9" name="Line 369"/>
          <p:cNvSpPr/>
          <p:nvPr/>
        </p:nvSpPr>
        <p:spPr>
          <a:xfrm>
            <a:off x="9688144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0" name="Line 370"/>
          <p:cNvSpPr/>
          <p:nvPr/>
        </p:nvSpPr>
        <p:spPr>
          <a:xfrm>
            <a:off x="9741438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1" name="Line 371"/>
          <p:cNvSpPr/>
          <p:nvPr/>
        </p:nvSpPr>
        <p:spPr>
          <a:xfrm flipV="1">
            <a:off x="9794731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2" name="Line 372"/>
          <p:cNvSpPr/>
          <p:nvPr/>
        </p:nvSpPr>
        <p:spPr>
          <a:xfrm flipV="1">
            <a:off x="9848024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3" name="Line 373"/>
          <p:cNvSpPr/>
          <p:nvPr/>
        </p:nvSpPr>
        <p:spPr>
          <a:xfrm>
            <a:off x="9901318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4" name="Line 374"/>
          <p:cNvSpPr/>
          <p:nvPr/>
        </p:nvSpPr>
        <p:spPr>
          <a:xfrm>
            <a:off x="9954611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5" name="Line 375"/>
          <p:cNvSpPr/>
          <p:nvPr/>
        </p:nvSpPr>
        <p:spPr>
          <a:xfrm flipV="1">
            <a:off x="10007905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6" name="Line 376"/>
          <p:cNvSpPr/>
          <p:nvPr/>
        </p:nvSpPr>
        <p:spPr>
          <a:xfrm flipV="1">
            <a:off x="10061198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7" name="Line 377"/>
          <p:cNvSpPr/>
          <p:nvPr/>
        </p:nvSpPr>
        <p:spPr>
          <a:xfrm>
            <a:off x="10114492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8" name="Line 378"/>
          <p:cNvSpPr/>
          <p:nvPr/>
        </p:nvSpPr>
        <p:spPr>
          <a:xfrm>
            <a:off x="10167785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9" name="Line 379"/>
          <p:cNvSpPr/>
          <p:nvPr/>
        </p:nvSpPr>
        <p:spPr>
          <a:xfrm flipV="1">
            <a:off x="10221079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0" name="Line 380"/>
          <p:cNvSpPr/>
          <p:nvPr/>
        </p:nvSpPr>
        <p:spPr>
          <a:xfrm flipV="1">
            <a:off x="10274372" y="3682494"/>
            <a:ext cx="0" cy="97914"/>
          </a:xfrm>
          <a:prstGeom prst="line">
            <a:avLst/>
          </a:prstGeom>
          <a:noFill/>
          <a:ln w="8016">
            <a:solidFill>
              <a:srgbClr val="6D8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2" name="TextBox 382"/>
          <p:cNvSpPr txBox="1"/>
          <p:nvPr/>
        </p:nvSpPr>
        <p:spPr>
          <a:xfrm>
            <a:off x="513246" y="0"/>
            <a:ext cx="11165203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2869" b="1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Membership disclosure without sequence reproduction</a:t>
            </a:r>
            <a:endParaRPr lang="zh-CN" sz="2869" dirty="0"/>
          </a:p>
        </p:txBody>
      </p:sp>
      <p:sp>
        <p:nvSpPr>
          <p:cNvPr id="383" name="TextBox 383"/>
          <p:cNvSpPr txBox="1"/>
          <p:nvPr/>
        </p:nvSpPr>
        <p:spPr>
          <a:xfrm>
            <a:off x="1314925" y="408128"/>
            <a:ext cx="9561845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722">
                <a:solidFill>
                  <a:srgbClr val="16264C"/>
                </a:solidFill>
                <a:latin typeface="Arial"/>
                <a:ea typeface="Arial"/>
                <a:cs typeface="Arial"/>
              </a:rPr>
              <a:t>Privacy leakage from fine-tuned genomic language models</a:t>
            </a:r>
            <a:endParaRPr lang="zh-CN" sz="1722"/>
          </a:p>
        </p:txBody>
      </p:sp>
      <p:sp>
        <p:nvSpPr>
          <p:cNvPr id="384" name="TextBox 384"/>
          <p:cNvSpPr txBox="1"/>
          <p:nvPr/>
        </p:nvSpPr>
        <p:spPr>
          <a:xfrm>
            <a:off x="170711" y="787103"/>
            <a:ext cx="5174474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7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(a)  Cohort fine-tuning</a:t>
            </a:r>
            <a:endParaRPr lang="zh-CN" sz="1779"/>
          </a:p>
        </p:txBody>
      </p:sp>
      <p:sp>
        <p:nvSpPr>
          <p:cNvPr id="385" name="TextBox 385"/>
          <p:cNvSpPr txBox="1"/>
          <p:nvPr/>
        </p:nvSpPr>
        <p:spPr>
          <a:xfrm>
            <a:off x="5702296" y="787103"/>
            <a:ext cx="6267673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7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(b)  Two tests, the same weights</a:t>
            </a:r>
            <a:endParaRPr lang="zh-CN" sz="1779"/>
          </a:p>
        </p:txBody>
      </p:sp>
      <p:sp>
        <p:nvSpPr>
          <p:cNvPr id="386" name="TextBox 386"/>
          <p:cNvSpPr txBox="1"/>
          <p:nvPr/>
        </p:nvSpPr>
        <p:spPr>
          <a:xfrm>
            <a:off x="280030" y="1158791"/>
            <a:ext cx="2456053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77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8 released checkpoints / 4 families</a:t>
            </a:r>
            <a:endParaRPr lang="zh-CN" sz="1070"/>
          </a:p>
        </p:txBody>
      </p:sp>
      <p:sp>
        <p:nvSpPr>
          <p:cNvPr id="387" name="TextBox 387"/>
          <p:cNvSpPr txBox="1"/>
          <p:nvPr/>
        </p:nvSpPr>
        <p:spPr>
          <a:xfrm>
            <a:off x="374774" y="1617934"/>
            <a:ext cx="437279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918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NT</a:t>
            </a:r>
            <a:endParaRPr lang="zh-CN" sz="918"/>
          </a:p>
        </p:txBody>
      </p:sp>
      <p:sp>
        <p:nvSpPr>
          <p:cNvPr id="388" name="TextBox 388"/>
          <p:cNvSpPr txBox="1"/>
          <p:nvPr/>
        </p:nvSpPr>
        <p:spPr>
          <a:xfrm>
            <a:off x="994254" y="1617934"/>
            <a:ext cx="437279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03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DNABERT</a:t>
            </a:r>
            <a:endParaRPr lang="zh-CN" sz="603"/>
          </a:p>
        </p:txBody>
      </p:sp>
      <p:sp>
        <p:nvSpPr>
          <p:cNvPr id="389" name="TextBox 389"/>
          <p:cNvSpPr txBox="1"/>
          <p:nvPr/>
        </p:nvSpPr>
        <p:spPr>
          <a:xfrm>
            <a:off x="1613733" y="1617934"/>
            <a:ext cx="437279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534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DNABERT-2</a:t>
            </a:r>
            <a:endParaRPr lang="zh-CN" sz="534"/>
          </a:p>
        </p:txBody>
      </p:sp>
      <p:sp>
        <p:nvSpPr>
          <p:cNvPr id="390" name="TextBox 390"/>
          <p:cNvSpPr txBox="1"/>
          <p:nvPr/>
        </p:nvSpPr>
        <p:spPr>
          <a:xfrm>
            <a:off x="2233212" y="1617934"/>
            <a:ext cx="437279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03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HyenaDNA</a:t>
            </a:r>
            <a:endParaRPr lang="zh-CN" sz="603"/>
          </a:p>
        </p:txBody>
      </p:sp>
      <p:sp>
        <p:nvSpPr>
          <p:cNvPr id="391" name="TextBox 391"/>
          <p:cNvSpPr txBox="1"/>
          <p:nvPr/>
        </p:nvSpPr>
        <p:spPr>
          <a:xfrm>
            <a:off x="338334" y="2026062"/>
            <a:ext cx="232486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18">
                <a:solidFill>
                  <a:srgbClr val="16264C"/>
                </a:solidFill>
                <a:latin typeface="Arial"/>
                <a:ea typeface="Arial"/>
                <a:cs typeface="Arial"/>
              </a:rPr>
              <a:t>NT · DNABERT</a:t>
            </a:r>
            <a:endParaRPr lang="zh-CN" sz="976"/>
          </a:p>
        </p:txBody>
      </p:sp>
      <p:sp>
        <p:nvSpPr>
          <p:cNvPr id="392" name="TextBox 392"/>
          <p:cNvSpPr txBox="1"/>
          <p:nvPr/>
        </p:nvSpPr>
        <p:spPr>
          <a:xfrm>
            <a:off x="338334" y="2186397"/>
            <a:ext cx="232486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18">
                <a:solidFill>
                  <a:srgbClr val="16264C"/>
                </a:solidFill>
                <a:latin typeface="Arial"/>
                <a:ea typeface="Arial"/>
                <a:cs typeface="Arial"/>
              </a:rPr>
              <a:t>DNABERT-2 · HyenaDNA</a:t>
            </a:r>
            <a:endParaRPr lang="zh-CN" sz="976"/>
          </a:p>
        </p:txBody>
      </p:sp>
      <p:sp>
        <p:nvSpPr>
          <p:cNvPr id="393" name="TextBox 393"/>
          <p:cNvSpPr txBox="1"/>
          <p:nvPr/>
        </p:nvSpPr>
        <p:spPr>
          <a:xfrm>
            <a:off x="309182" y="2492493"/>
            <a:ext cx="240503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Rare chr22 windows</a:t>
            </a:r>
            <a:endParaRPr lang="zh-CN" sz="1320"/>
          </a:p>
        </p:txBody>
      </p:sp>
      <p:sp>
        <p:nvSpPr>
          <p:cNvPr id="394" name="TextBox 394"/>
          <p:cNvSpPr txBox="1"/>
          <p:nvPr/>
        </p:nvSpPr>
        <p:spPr>
          <a:xfrm>
            <a:off x="434244" y="2689269"/>
            <a:ext cx="2154913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76">
                <a:solidFill>
                  <a:srgbClr val="16264C"/>
                </a:solidFill>
                <a:latin typeface="Arial"/>
                <a:ea typeface="Arial"/>
                <a:cs typeface="Arial"/>
              </a:rPr>
              <a:t>anchor variant: ≤5 of 2,548 people</a:t>
            </a:r>
            <a:endParaRPr lang="zh-CN" sz="949"/>
          </a:p>
        </p:txBody>
      </p:sp>
      <p:sp>
        <p:nvSpPr>
          <p:cNvPr id="395" name="TextBox 395"/>
          <p:cNvSpPr txBox="1"/>
          <p:nvPr/>
        </p:nvSpPr>
        <p:spPr>
          <a:xfrm>
            <a:off x="2327956" y="2988077"/>
            <a:ext cx="255080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4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549"/>
          </a:p>
        </p:txBody>
      </p:sp>
      <p:sp>
        <p:nvSpPr>
          <p:cNvPr id="396" name="TextBox 396"/>
          <p:cNvSpPr txBox="1"/>
          <p:nvPr/>
        </p:nvSpPr>
        <p:spPr>
          <a:xfrm>
            <a:off x="338334" y="3724164"/>
            <a:ext cx="236130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96 nt record</a:t>
            </a:r>
            <a:endParaRPr lang="zh-CN" sz="1148"/>
          </a:p>
        </p:txBody>
      </p:sp>
      <p:sp>
        <p:nvSpPr>
          <p:cNvPr id="397" name="TextBox 397"/>
          <p:cNvSpPr txBox="1"/>
          <p:nvPr/>
        </p:nvSpPr>
        <p:spPr>
          <a:xfrm>
            <a:off x="316470" y="4234323"/>
            <a:ext cx="1187943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48 nt prefix</a:t>
            </a:r>
            <a:endParaRPr lang="zh-CN" sz="1090"/>
          </a:p>
        </p:txBody>
      </p:sp>
      <p:sp>
        <p:nvSpPr>
          <p:cNvPr id="398" name="TextBox 398"/>
          <p:cNvSpPr txBox="1"/>
          <p:nvPr/>
        </p:nvSpPr>
        <p:spPr>
          <a:xfrm>
            <a:off x="1511701" y="4234323"/>
            <a:ext cx="1195231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48 nt target</a:t>
            </a:r>
            <a:endParaRPr lang="zh-CN" sz="1090"/>
          </a:p>
        </p:txBody>
      </p:sp>
      <p:sp>
        <p:nvSpPr>
          <p:cNvPr id="399" name="TextBox 399"/>
          <p:cNvSpPr txBox="1"/>
          <p:nvPr/>
        </p:nvSpPr>
        <p:spPr>
          <a:xfrm>
            <a:off x="280030" y="4474827"/>
            <a:ext cx="2456053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55">
                <a:solidFill>
                  <a:srgbClr val="16264C"/>
                </a:solidFill>
                <a:latin typeface="Arial"/>
                <a:ea typeface="Arial"/>
                <a:cs typeface="Arial"/>
              </a:rPr>
              <a:t>1, 4 or 16 copies · random offsets</a:t>
            </a:r>
            <a:endParaRPr lang="zh-CN" sz="1050"/>
          </a:p>
        </p:txBody>
      </p:sp>
      <p:sp>
        <p:nvSpPr>
          <p:cNvPr id="400" name="TextBox 400"/>
          <p:cNvSpPr txBox="1"/>
          <p:nvPr/>
        </p:nvSpPr>
        <p:spPr>
          <a:xfrm>
            <a:off x="3013027" y="2412325"/>
            <a:ext cx="1013031" cy="4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Local</a:t>
            </a:r>
            <a:endParaRPr lang="zh-CN" sz="1320"/>
          </a:p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fine-tuning</a:t>
            </a:r>
            <a:endParaRPr lang="zh-CN" sz="1320"/>
          </a:p>
        </p:txBody>
      </p:sp>
      <p:sp>
        <p:nvSpPr>
          <p:cNvPr id="401" name="TextBox 401"/>
          <p:cNvSpPr txBox="1"/>
          <p:nvPr/>
        </p:nvSpPr>
        <p:spPr>
          <a:xfrm>
            <a:off x="4179106" y="2988077"/>
            <a:ext cx="1260823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Shared weights</a:t>
            </a:r>
            <a:endParaRPr lang="zh-CN" sz="1205"/>
          </a:p>
        </p:txBody>
      </p:sp>
      <p:sp>
        <p:nvSpPr>
          <p:cNvPr id="402" name="TextBox 402"/>
          <p:cNvSpPr txBox="1"/>
          <p:nvPr/>
        </p:nvSpPr>
        <p:spPr>
          <a:xfrm>
            <a:off x="4164530" y="3578404"/>
            <a:ext cx="129726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White-box audit</a:t>
            </a:r>
            <a:endParaRPr lang="zh-CN" sz="1262"/>
          </a:p>
        </p:txBody>
      </p:sp>
      <p:sp>
        <p:nvSpPr>
          <p:cNvPr id="403" name="TextBox 403"/>
          <p:cNvSpPr txBox="1"/>
          <p:nvPr/>
        </p:nvSpPr>
        <p:spPr>
          <a:xfrm>
            <a:off x="5826192" y="1166079"/>
            <a:ext cx="4540419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64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Verbatim extraction</a:t>
            </a:r>
            <a:endParaRPr lang="zh-CN" sz="1664"/>
          </a:p>
        </p:txBody>
      </p:sp>
      <p:sp>
        <p:nvSpPr>
          <p:cNvPr id="404" name="TextBox 404"/>
          <p:cNvSpPr txBox="1"/>
          <p:nvPr/>
        </p:nvSpPr>
        <p:spPr>
          <a:xfrm>
            <a:off x="5826192" y="1443022"/>
            <a:ext cx="4664315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86">
                <a:solidFill>
                  <a:srgbClr val="16264C"/>
                </a:solidFill>
                <a:latin typeface="Arial"/>
                <a:ea typeface="Arial"/>
                <a:cs typeface="Arial"/>
              </a:rPr>
              <a:t>Recover all 48 target nucleotides</a:t>
            </a:r>
            <a:endParaRPr lang="zh-CN" sz="1205"/>
          </a:p>
        </p:txBody>
      </p:sp>
      <p:sp>
        <p:nvSpPr>
          <p:cNvPr id="405" name="TextBox 405"/>
          <p:cNvSpPr txBox="1"/>
          <p:nvPr/>
        </p:nvSpPr>
        <p:spPr>
          <a:xfrm>
            <a:off x="7181758" y="1705390"/>
            <a:ext cx="218640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262"/>
          </a:p>
        </p:txBody>
      </p:sp>
      <p:sp>
        <p:nvSpPr>
          <p:cNvPr id="406" name="TextBox 406"/>
          <p:cNvSpPr txBox="1"/>
          <p:nvPr/>
        </p:nvSpPr>
        <p:spPr>
          <a:xfrm>
            <a:off x="5840768" y="2084366"/>
            <a:ext cx="867271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39">
                <a:solidFill>
                  <a:srgbClr val="16264C"/>
                </a:solidFill>
                <a:latin typeface="Arial"/>
                <a:ea typeface="Arial"/>
                <a:cs typeface="Arial"/>
              </a:rPr>
              <a:t>48 nt prefix</a:t>
            </a:r>
            <a:endParaRPr lang="zh-CN" sz="918"/>
          </a:p>
        </p:txBody>
      </p:sp>
      <p:sp>
        <p:nvSpPr>
          <p:cNvPr id="407" name="TextBox 407"/>
          <p:cNvSpPr txBox="1"/>
          <p:nvPr/>
        </p:nvSpPr>
        <p:spPr>
          <a:xfrm>
            <a:off x="6737191" y="2069790"/>
            <a:ext cx="1071335" cy="284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39">
                <a:solidFill>
                  <a:srgbClr val="16264C"/>
                </a:solidFill>
                <a:latin typeface="Arial"/>
                <a:ea typeface="Arial"/>
                <a:cs typeface="Arial"/>
              </a:rPr>
              <a:t>48 nt target</a:t>
            </a:r>
            <a:endParaRPr lang="zh-CN" sz="918"/>
          </a:p>
          <a:p>
            <a:pPr algn="ctr"/>
            <a:r>
              <a:rPr lang="zh-CN" sz="1239">
                <a:solidFill>
                  <a:srgbClr val="16264C"/>
                </a:solidFill>
                <a:latin typeface="Arial"/>
                <a:ea typeface="Arial"/>
                <a:cs typeface="Arial"/>
              </a:rPr>
              <a:t>(masked)</a:t>
            </a:r>
            <a:endParaRPr lang="zh-CN" sz="918"/>
          </a:p>
        </p:txBody>
      </p:sp>
      <p:sp>
        <p:nvSpPr>
          <p:cNvPr id="408" name="TextBox 408"/>
          <p:cNvSpPr txBox="1"/>
          <p:nvPr/>
        </p:nvSpPr>
        <p:spPr>
          <a:xfrm>
            <a:off x="8049029" y="1661662"/>
            <a:ext cx="1042183" cy="3571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89">
                <a:solidFill>
                  <a:srgbClr val="16264C"/>
                </a:solidFill>
                <a:latin typeface="Arial"/>
                <a:ea typeface="Arial"/>
                <a:cs typeface="Arial"/>
              </a:rPr>
              <a:t>Tokenizer-aware</a:t>
            </a:r>
            <a:endParaRPr lang="zh-CN" sz="990"/>
          </a:p>
          <a:p>
            <a:pPr algn="ctr"/>
            <a:r>
              <a:rPr lang="zh-CN" sz="1089">
                <a:solidFill>
                  <a:srgbClr val="16264C"/>
                </a:solidFill>
                <a:latin typeface="Arial"/>
                <a:ea typeface="Arial"/>
                <a:cs typeface="Arial"/>
              </a:rPr>
              <a:t>decoding</a:t>
            </a:r>
            <a:endParaRPr lang="zh-CN" sz="990"/>
          </a:p>
        </p:txBody>
      </p:sp>
      <p:sp>
        <p:nvSpPr>
          <p:cNvPr id="414" name="TextBox 414"/>
          <p:cNvSpPr txBox="1"/>
          <p:nvPr/>
        </p:nvSpPr>
        <p:spPr>
          <a:xfrm>
            <a:off x="5826192" y="2558085"/>
            <a:ext cx="4635163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64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Candidate membership</a:t>
            </a:r>
            <a:endParaRPr lang="zh-CN" sz="1664"/>
          </a:p>
        </p:txBody>
      </p:sp>
      <p:sp>
        <p:nvSpPr>
          <p:cNvPr id="415" name="TextBox 415"/>
          <p:cNvSpPr txBox="1"/>
          <p:nvPr/>
        </p:nvSpPr>
        <p:spPr>
          <a:xfrm>
            <a:off x="5826192" y="2835029"/>
            <a:ext cx="4664315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20">
                <a:solidFill>
                  <a:srgbClr val="16264C"/>
                </a:solidFill>
                <a:latin typeface="Arial"/>
                <a:ea typeface="Arial"/>
                <a:cs typeface="Arial"/>
              </a:rPr>
              <a:t>single copy vs 100 real rare segments</a:t>
            </a:r>
            <a:endParaRPr lang="zh-CN" sz="1148"/>
          </a:p>
        </p:txBody>
      </p:sp>
      <p:sp>
        <p:nvSpPr>
          <p:cNvPr id="416" name="TextBox 416"/>
          <p:cNvSpPr txBox="1"/>
          <p:nvPr/>
        </p:nvSpPr>
        <p:spPr>
          <a:xfrm>
            <a:off x="5833480" y="3265020"/>
            <a:ext cx="159607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983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Target candidate record</a:t>
            </a:r>
            <a:endParaRPr lang="zh-CN" sz="910" dirty="0"/>
          </a:p>
        </p:txBody>
      </p:sp>
      <p:sp>
        <p:nvSpPr>
          <p:cNvPr id="417" name="TextBox 417"/>
          <p:cNvSpPr txBox="1"/>
          <p:nvPr/>
        </p:nvSpPr>
        <p:spPr>
          <a:xfrm>
            <a:off x="6984983" y="3695012"/>
            <a:ext cx="225928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320"/>
          </a:p>
        </p:txBody>
      </p:sp>
      <p:sp>
        <p:nvSpPr>
          <p:cNvPr id="418" name="TextBox 418"/>
          <p:cNvSpPr txBox="1"/>
          <p:nvPr/>
        </p:nvSpPr>
        <p:spPr>
          <a:xfrm>
            <a:off x="5833480" y="3942803"/>
            <a:ext cx="159607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28">
                <a:solidFill>
                  <a:srgbClr val="16264C"/>
                </a:solidFill>
                <a:latin typeface="Arial"/>
                <a:ea typeface="Arial"/>
                <a:cs typeface="Arial"/>
              </a:rPr>
              <a:t>100 alternative sequences</a:t>
            </a:r>
            <a:endParaRPr lang="zh-CN" sz="918"/>
          </a:p>
        </p:txBody>
      </p:sp>
      <p:sp>
        <p:nvSpPr>
          <p:cNvPr id="419" name="TextBox 419"/>
          <p:cNvSpPr txBox="1"/>
          <p:nvPr/>
        </p:nvSpPr>
        <p:spPr>
          <a:xfrm>
            <a:off x="7921854" y="3308748"/>
            <a:ext cx="728070" cy="3862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76">
                <a:solidFill>
                  <a:srgbClr val="16264C"/>
                </a:solidFill>
                <a:latin typeface="Arial"/>
                <a:ea typeface="Arial"/>
                <a:cs typeface="Arial"/>
              </a:rPr>
              <a:t>Pseudo-log-</a:t>
            </a:r>
            <a:endParaRPr lang="zh-CN" sz="945"/>
          </a:p>
          <a:p>
            <a:pPr algn="ctr"/>
            <a:r>
              <a:rPr lang="zh-CN" sz="1276">
                <a:solidFill>
                  <a:srgbClr val="16264C"/>
                </a:solidFill>
                <a:latin typeface="Arial"/>
                <a:ea typeface="Arial"/>
                <a:cs typeface="Arial"/>
              </a:rPr>
              <a:t>likelihood</a:t>
            </a:r>
            <a:endParaRPr lang="zh-CN" sz="945"/>
          </a:p>
        </p:txBody>
      </p:sp>
      <p:sp>
        <p:nvSpPr>
          <p:cNvPr id="420" name="TextBox 420"/>
          <p:cNvSpPr txBox="1"/>
          <p:nvPr/>
        </p:nvSpPr>
        <p:spPr>
          <a:xfrm>
            <a:off x="9142228" y="2980789"/>
            <a:ext cx="240504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D36658"/>
                </a:solidFill>
                <a:latin typeface="Arial"/>
                <a:ea typeface="Arial"/>
                <a:cs typeface="Arial"/>
              </a:rPr>
              <a:t>#1</a:t>
            </a:r>
            <a:endParaRPr lang="zh-CN" sz="1148"/>
          </a:p>
        </p:txBody>
      </p:sp>
      <p:sp>
        <p:nvSpPr>
          <p:cNvPr id="421" name="TextBox 421"/>
          <p:cNvSpPr txBox="1"/>
          <p:nvPr/>
        </p:nvSpPr>
        <p:spPr>
          <a:xfrm>
            <a:off x="9142228" y="3367052"/>
            <a:ext cx="240504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>
                <a:solidFill>
                  <a:srgbClr val="16264C"/>
                </a:solidFill>
                <a:latin typeface="Arial"/>
                <a:ea typeface="Arial"/>
                <a:cs typeface="Arial"/>
              </a:rPr>
              <a:t>#2</a:t>
            </a:r>
            <a:endParaRPr lang="zh-CN" sz="1148"/>
          </a:p>
        </p:txBody>
      </p:sp>
      <p:sp>
        <p:nvSpPr>
          <p:cNvPr id="422" name="TextBox 422"/>
          <p:cNvSpPr txBox="1"/>
          <p:nvPr/>
        </p:nvSpPr>
        <p:spPr>
          <a:xfrm>
            <a:off x="9142228" y="3614844"/>
            <a:ext cx="240504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>
                <a:solidFill>
                  <a:srgbClr val="16264C"/>
                </a:solidFill>
                <a:latin typeface="Arial"/>
                <a:ea typeface="Arial"/>
                <a:cs typeface="Arial"/>
              </a:rPr>
              <a:t>#3</a:t>
            </a:r>
            <a:endParaRPr lang="zh-CN" sz="1148"/>
          </a:p>
        </p:txBody>
      </p:sp>
      <p:sp>
        <p:nvSpPr>
          <p:cNvPr id="423" name="TextBox 423"/>
          <p:cNvSpPr txBox="1"/>
          <p:nvPr/>
        </p:nvSpPr>
        <p:spPr>
          <a:xfrm>
            <a:off x="9528492" y="3184852"/>
            <a:ext cx="342536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205"/>
          </a:p>
        </p:txBody>
      </p:sp>
      <p:sp>
        <p:nvSpPr>
          <p:cNvPr id="424" name="TextBox 424"/>
          <p:cNvSpPr txBox="1"/>
          <p:nvPr/>
        </p:nvSpPr>
        <p:spPr>
          <a:xfrm>
            <a:off x="9062060" y="3993819"/>
            <a:ext cx="1319126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39">
                <a:solidFill>
                  <a:srgbClr val="16264C"/>
                </a:solidFill>
                <a:latin typeface="Arial"/>
                <a:ea typeface="Arial"/>
                <a:cs typeface="Arial"/>
              </a:rPr>
              <a:t>Ranked candidates</a:t>
            </a:r>
            <a:endParaRPr lang="zh-CN" sz="918"/>
          </a:p>
        </p:txBody>
      </p:sp>
      <p:sp>
        <p:nvSpPr>
          <p:cNvPr id="425" name="TextBox 425"/>
          <p:cNvSpPr txBox="1"/>
          <p:nvPr/>
        </p:nvSpPr>
        <p:spPr>
          <a:xfrm>
            <a:off x="10628978" y="2784013"/>
            <a:ext cx="1340990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2640" b="1">
                <a:solidFill>
                  <a:srgbClr val="D36658"/>
                </a:solidFill>
                <a:latin typeface="Arial"/>
                <a:ea typeface="Arial"/>
                <a:cs typeface="Arial"/>
              </a:rPr>
              <a:t>92–96%</a:t>
            </a:r>
            <a:endParaRPr lang="zh-CN" sz="2640"/>
          </a:p>
        </p:txBody>
      </p:sp>
      <p:sp>
        <p:nvSpPr>
          <p:cNvPr id="426" name="TextBox 426"/>
          <p:cNvSpPr txBox="1"/>
          <p:nvPr/>
        </p:nvSpPr>
        <p:spPr>
          <a:xfrm>
            <a:off x="10643554" y="3214004"/>
            <a:ext cx="1311837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189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own training window </a:t>
            </a:r>
            <a:br>
              <a:rPr lang="en-US" altLang="zh-CN" sz="1189" dirty="0">
                <a:solidFill>
                  <a:srgbClr val="16264C"/>
                </a:solidFill>
                <a:latin typeface="Arial"/>
                <a:ea typeface="Arial"/>
                <a:cs typeface="Arial"/>
              </a:rPr>
            </a:br>
            <a:r>
              <a:rPr lang="en-US" altLang="zh-CN" sz="1189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(privileged context)</a:t>
            </a:r>
            <a:endParaRPr lang="zh-CN" sz="1062" dirty="0"/>
          </a:p>
        </p:txBody>
      </p:sp>
      <p:sp>
        <p:nvSpPr>
          <p:cNvPr id="427" name="TextBox 427"/>
          <p:cNvSpPr txBox="1"/>
          <p:nvPr/>
        </p:nvSpPr>
        <p:spPr>
          <a:xfrm>
            <a:off x="10628978" y="3476372"/>
            <a:ext cx="1340990" cy="4227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2640" b="1">
                <a:solidFill>
                  <a:srgbClr val="D36658"/>
                </a:solidFill>
                <a:latin typeface="Arial"/>
                <a:ea typeface="Arial"/>
                <a:cs typeface="Arial"/>
              </a:rPr>
              <a:t>18–26%</a:t>
            </a:r>
            <a:endParaRPr lang="zh-CN" sz="2640"/>
          </a:p>
        </p:txBody>
      </p:sp>
      <p:sp>
        <p:nvSpPr>
          <p:cNvPr id="428" name="TextBox 428"/>
          <p:cNvSpPr txBox="1"/>
          <p:nvPr/>
        </p:nvSpPr>
        <p:spPr>
          <a:xfrm>
            <a:off x="10599826" y="3877211"/>
            <a:ext cx="1406582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34">
                <a:solidFill>
                  <a:srgbClr val="16264C"/>
                </a:solidFill>
                <a:latin typeface="Arial"/>
                <a:ea typeface="Arial"/>
                <a:cs typeface="Arial"/>
              </a:rPr>
              <a:t>unseen window</a:t>
            </a:r>
            <a:endParaRPr lang="zh-CN" sz="1062"/>
          </a:p>
        </p:txBody>
      </p:sp>
      <p:sp>
        <p:nvSpPr>
          <p:cNvPr id="429" name="TextBox 429"/>
          <p:cNvSpPr txBox="1"/>
          <p:nvPr/>
        </p:nvSpPr>
        <p:spPr>
          <a:xfrm>
            <a:off x="5848056" y="4256187"/>
            <a:ext cx="6041745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>
                <a:solidFill>
                  <a:srgbClr val="16264C"/>
                </a:solidFill>
                <a:latin typeface="Arial"/>
                <a:ea typeface="Arial"/>
                <a:cs typeface="Arial"/>
              </a:rPr>
              <a:t>Chance: 1/101 = 0.99%    Never-trained controls: 0–2 of 50 own · 0 of 50 unseen</a:t>
            </a:r>
            <a:endParaRPr lang="zh-CN" sz="1119"/>
          </a:p>
        </p:txBody>
      </p:sp>
      <p:sp>
        <p:nvSpPr>
          <p:cNvPr id="430" name="TextBox 430"/>
          <p:cNvSpPr txBox="1"/>
          <p:nvPr/>
        </p:nvSpPr>
        <p:spPr>
          <a:xfrm>
            <a:off x="5818904" y="4642451"/>
            <a:ext cx="6078185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34">
                <a:solidFill>
                  <a:srgbClr val="16264C"/>
                </a:solidFill>
                <a:latin typeface="Arial"/>
                <a:ea typeface="Arial"/>
                <a:cs typeface="Arial"/>
              </a:rPr>
              <a:t>DNABERT-2 · chromosome 22 · final checkpoint · 3 seeds</a:t>
            </a:r>
            <a:endParaRPr lang="zh-CN" sz="1062"/>
          </a:p>
        </p:txBody>
      </p:sp>
      <p:sp>
        <p:nvSpPr>
          <p:cNvPr id="431" name="TextBox 431"/>
          <p:cNvSpPr txBox="1"/>
          <p:nvPr/>
        </p:nvSpPr>
        <p:spPr>
          <a:xfrm>
            <a:off x="5818904" y="4846514"/>
            <a:ext cx="6078185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4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Zero extraction does not imply privacy.</a:t>
            </a:r>
            <a:endParaRPr lang="zh-CN" sz="1549"/>
          </a:p>
        </p:txBody>
      </p:sp>
      <p:sp>
        <p:nvSpPr>
          <p:cNvPr id="432" name="TextBox 432"/>
          <p:cNvSpPr txBox="1"/>
          <p:nvPr/>
        </p:nvSpPr>
        <p:spPr>
          <a:xfrm>
            <a:off x="170711" y="5225490"/>
            <a:ext cx="5575313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22" b="1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(c</a:t>
            </a:r>
            <a:r>
              <a:rPr lang="zh-CN" sz="1722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)  </a:t>
            </a:r>
            <a:r>
              <a:rPr lang="en-US" altLang="zh-CN" sz="1722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Token </a:t>
            </a:r>
            <a:r>
              <a:rPr lang="en-US" altLang="zh-CN" sz="1722" b="1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slots track reachability</a:t>
            </a:r>
            <a:endParaRPr lang="zh-CN" sz="1722" dirty="0"/>
          </a:p>
        </p:txBody>
      </p:sp>
      <p:sp>
        <p:nvSpPr>
          <p:cNvPr id="433" name="TextBox 433"/>
          <p:cNvSpPr txBox="1"/>
          <p:nvPr/>
        </p:nvSpPr>
        <p:spPr>
          <a:xfrm>
            <a:off x="564262" y="5465994"/>
            <a:ext cx="5218202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23">
                <a:solidFill>
                  <a:srgbClr val="16264C"/>
                </a:solidFill>
                <a:latin typeface="Arial"/>
                <a:ea typeface="Arial"/>
                <a:cs typeface="Arial"/>
              </a:rPr>
              <a:t>Controlled backbone · fixed objective · matched held-out loss</a:t>
            </a:r>
            <a:endParaRPr lang="zh-CN" sz="1003"/>
          </a:p>
        </p:txBody>
      </p:sp>
      <p:sp>
        <p:nvSpPr>
          <p:cNvPr id="434" name="TextBox 434"/>
          <p:cNvSpPr txBox="1"/>
          <p:nvPr/>
        </p:nvSpPr>
        <p:spPr>
          <a:xfrm>
            <a:off x="535112" y="5735649"/>
            <a:ext cx="3228580" cy="2113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altLang="zh-CN" sz="1450" b="1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Teacher-forced target surprise, end of training</a:t>
            </a:r>
            <a:endParaRPr lang="zh-CN" sz="1205" dirty="0"/>
          </a:p>
        </p:txBody>
      </p:sp>
      <p:sp>
        <p:nvSpPr>
          <p:cNvPr id="435" name="TextBox 435"/>
          <p:cNvSpPr txBox="1"/>
          <p:nvPr/>
        </p:nvSpPr>
        <p:spPr>
          <a:xfrm>
            <a:off x="243590" y="5990729"/>
            <a:ext cx="218640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262"/>
          </a:p>
        </p:txBody>
      </p:sp>
      <p:sp>
        <p:nvSpPr>
          <p:cNvPr id="436" name="TextBox 436"/>
          <p:cNvSpPr txBox="1"/>
          <p:nvPr/>
        </p:nvSpPr>
        <p:spPr>
          <a:xfrm>
            <a:off x="1854237" y="6012593"/>
            <a:ext cx="204064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?</a:t>
            </a:r>
            <a:endParaRPr lang="zh-CN" sz="1435"/>
          </a:p>
        </p:txBody>
      </p:sp>
      <p:sp>
        <p:nvSpPr>
          <p:cNvPr id="437" name="TextBox 437"/>
          <p:cNvSpPr txBox="1"/>
          <p:nvPr/>
        </p:nvSpPr>
        <p:spPr>
          <a:xfrm>
            <a:off x="3457595" y="5990729"/>
            <a:ext cx="233216" cy="2623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…</a:t>
            </a:r>
            <a:endParaRPr lang="zh-CN" sz="1262"/>
          </a:p>
        </p:txBody>
      </p:sp>
      <p:sp>
        <p:nvSpPr>
          <p:cNvPr id="438" name="TextBox 438"/>
          <p:cNvSpPr txBox="1"/>
          <p:nvPr/>
        </p:nvSpPr>
        <p:spPr>
          <a:xfrm>
            <a:off x="272742" y="6376993"/>
            <a:ext cx="3388916" cy="1894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221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Surprise gaps within a seventh of each other</a:t>
            </a:r>
            <a:endParaRPr lang="zh-CN" sz="1062" dirty="0"/>
          </a:p>
        </p:txBody>
      </p:sp>
      <p:sp>
        <p:nvSpPr>
          <p:cNvPr id="439" name="TextBox 439"/>
          <p:cNvSpPr txBox="1"/>
          <p:nvPr/>
        </p:nvSpPr>
        <p:spPr>
          <a:xfrm>
            <a:off x="4069786" y="5327522"/>
            <a:ext cx="7907471" cy="1967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Non-overlapping tokens: slots = 48/k</a:t>
            </a:r>
            <a:endParaRPr lang="zh-CN" sz="1148"/>
          </a:p>
        </p:txBody>
      </p:sp>
      <p:sp>
        <p:nvSpPr>
          <p:cNvPr id="440" name="TextBox 440"/>
          <p:cNvSpPr txBox="1"/>
          <p:nvPr/>
        </p:nvSpPr>
        <p:spPr>
          <a:xfrm>
            <a:off x="4171818" y="5619041"/>
            <a:ext cx="685071" cy="240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4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2-mer</a:t>
            </a:r>
            <a:endParaRPr lang="zh-CN" sz="1549"/>
          </a:p>
        </p:txBody>
      </p:sp>
      <p:sp>
        <p:nvSpPr>
          <p:cNvPr id="441" name="TextBox 441"/>
          <p:cNvSpPr txBox="1"/>
          <p:nvPr/>
        </p:nvSpPr>
        <p:spPr>
          <a:xfrm>
            <a:off x="4171818" y="6107337"/>
            <a:ext cx="685071" cy="2405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49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6-mer</a:t>
            </a:r>
            <a:endParaRPr lang="zh-CN" sz="1549"/>
          </a:p>
        </p:txBody>
      </p:sp>
      <p:sp>
        <p:nvSpPr>
          <p:cNvPr id="442" name="TextBox 442"/>
          <p:cNvSpPr txBox="1"/>
          <p:nvPr/>
        </p:nvSpPr>
        <p:spPr>
          <a:xfrm>
            <a:off x="4944345" y="5808529"/>
            <a:ext cx="4737194" cy="1676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62">
                <a:solidFill>
                  <a:srgbClr val="16264C"/>
                </a:solidFill>
                <a:latin typeface="Arial"/>
                <a:ea typeface="Arial"/>
                <a:cs typeface="Arial"/>
              </a:rPr>
              <a:t>24 slots</a:t>
            </a:r>
            <a:endParaRPr lang="zh-CN" sz="935"/>
          </a:p>
        </p:txBody>
      </p:sp>
      <p:sp>
        <p:nvSpPr>
          <p:cNvPr id="443" name="TextBox 443"/>
          <p:cNvSpPr txBox="1"/>
          <p:nvPr/>
        </p:nvSpPr>
        <p:spPr>
          <a:xfrm>
            <a:off x="4944345" y="6311401"/>
            <a:ext cx="4737194" cy="1676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62">
                <a:solidFill>
                  <a:srgbClr val="16264C"/>
                </a:solidFill>
                <a:latin typeface="Arial"/>
                <a:ea typeface="Arial"/>
                <a:cs typeface="Arial"/>
              </a:rPr>
              <a:t>8 slots</a:t>
            </a:r>
            <a:endParaRPr lang="zh-CN" sz="935"/>
          </a:p>
        </p:txBody>
      </p:sp>
      <p:sp>
        <p:nvSpPr>
          <p:cNvPr id="444" name="TextBox 444"/>
          <p:cNvSpPr txBox="1"/>
          <p:nvPr/>
        </p:nvSpPr>
        <p:spPr>
          <a:xfrm>
            <a:off x="10388475" y="5568026"/>
            <a:ext cx="1530478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722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0% recovery</a:t>
            </a:r>
            <a:endParaRPr lang="zh-CN" sz="1722"/>
          </a:p>
        </p:txBody>
      </p:sp>
      <p:sp>
        <p:nvSpPr>
          <p:cNvPr id="445" name="TextBox 445"/>
          <p:cNvSpPr txBox="1"/>
          <p:nvPr/>
        </p:nvSpPr>
        <p:spPr>
          <a:xfrm>
            <a:off x="10439491" y="5830393"/>
            <a:ext cx="1421158" cy="14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24">
                <a:solidFill>
                  <a:srgbClr val="16264C"/>
                </a:solidFill>
                <a:latin typeface="Arial"/>
                <a:ea typeface="Arial"/>
                <a:cs typeface="Arial"/>
              </a:rPr>
              <a:t>At 2.40 bits/nt</a:t>
            </a:r>
            <a:endParaRPr lang="zh-CN" sz="907"/>
          </a:p>
        </p:txBody>
      </p:sp>
      <p:sp>
        <p:nvSpPr>
          <p:cNvPr id="446" name="TextBox 446"/>
          <p:cNvSpPr txBox="1"/>
          <p:nvPr/>
        </p:nvSpPr>
        <p:spPr>
          <a:xfrm>
            <a:off x="10388475" y="6056321"/>
            <a:ext cx="1530478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722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92% recovery</a:t>
            </a:r>
            <a:endParaRPr lang="zh-CN" sz="1722"/>
          </a:p>
        </p:txBody>
      </p:sp>
      <p:sp>
        <p:nvSpPr>
          <p:cNvPr id="447" name="TextBox 447"/>
          <p:cNvSpPr txBox="1"/>
          <p:nvPr/>
        </p:nvSpPr>
        <p:spPr>
          <a:xfrm>
            <a:off x="10439491" y="6318689"/>
            <a:ext cx="1421158" cy="14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24">
                <a:solidFill>
                  <a:srgbClr val="16264C"/>
                </a:solidFill>
                <a:latin typeface="Arial"/>
                <a:ea typeface="Arial"/>
                <a:cs typeface="Arial"/>
              </a:rPr>
              <a:t>At 2.40 bits/nt</a:t>
            </a:r>
            <a:endParaRPr lang="zh-CN" sz="907"/>
          </a:p>
        </p:txBody>
      </p:sp>
      <p:sp>
        <p:nvSpPr>
          <p:cNvPr id="448" name="TextBox 448"/>
          <p:cNvSpPr txBox="1"/>
          <p:nvPr/>
        </p:nvSpPr>
        <p:spPr>
          <a:xfrm>
            <a:off x="4062498" y="6566480"/>
            <a:ext cx="7871031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Stored information ≠ reachable sequence</a:t>
            </a:r>
            <a:endParaRPr lang="zh-CN" sz="1377"/>
          </a:p>
        </p:txBody>
      </p:sp>
      <p:sp>
        <p:nvSpPr>
          <p:cNvPr id="413" name="TextBox 413"/>
          <p:cNvSpPr txBox="1"/>
          <p:nvPr/>
        </p:nvSpPr>
        <p:spPr>
          <a:xfrm>
            <a:off x="10204704" y="1426464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00" b="0">
                <a:solidFill>
                  <a:srgbClr val="16264C"/>
                </a:solidFill>
                <a:latin typeface="Arial"/>
                <a:ea typeface="Arial"/>
                <a:cs typeface="Arial"/>
              </a:rPr>
              <a:t>standard</a:t>
            </a:r>
            <a:endParaRPr lang="zh-CN" sz="1110"/>
          </a:p>
        </p:txBody>
      </p:sp>
      <p:sp>
        <p:nvSpPr>
          <p:cNvPr id="25" name="TextBox 413"/>
          <p:cNvSpPr txBox="1"/>
          <p:nvPr/>
        </p:nvSpPr>
        <p:spPr>
          <a:xfrm>
            <a:off x="11119104" y="1426464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00" b="0">
                <a:solidFill>
                  <a:srgbClr val="16264C"/>
                </a:solidFill>
                <a:latin typeface="Arial"/>
                <a:ea typeface="Arial"/>
                <a:cs typeface="Arial"/>
              </a:rPr>
              <a:t>re-masking</a:t>
            </a:r>
            <a:endParaRPr lang="zh-CN" sz="1110"/>
          </a:p>
        </p:txBody>
      </p:sp>
      <p:sp>
        <p:nvSpPr>
          <p:cNvPr id="449" name="TextBox 413"/>
          <p:cNvSpPr txBox="1"/>
          <p:nvPr/>
        </p:nvSpPr>
        <p:spPr>
          <a:xfrm>
            <a:off x="9217152" y="170078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00" b="0">
                <a:solidFill>
                  <a:srgbClr val="16264C"/>
                </a:solidFill>
                <a:latin typeface="Arial"/>
                <a:ea typeface="Arial"/>
                <a:cs typeface="Arial"/>
              </a:rPr>
              <a:t>16 copies</a:t>
            </a:r>
            <a:endParaRPr lang="zh-CN" sz="1110"/>
          </a:p>
        </p:txBody>
      </p:sp>
      <p:sp>
        <p:nvSpPr>
          <p:cNvPr id="412" name="TextBox 412"/>
          <p:cNvSpPr txBox="1"/>
          <p:nvPr/>
        </p:nvSpPr>
        <p:spPr>
          <a:xfrm>
            <a:off x="10204704" y="1700784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40–44%</a:t>
            </a:r>
            <a:endParaRPr lang="zh-CN" sz="3156"/>
          </a:p>
        </p:txBody>
      </p:sp>
      <p:sp>
        <p:nvSpPr>
          <p:cNvPr id="450" name="TextBox 412"/>
          <p:cNvSpPr txBox="1"/>
          <p:nvPr/>
        </p:nvSpPr>
        <p:spPr>
          <a:xfrm>
            <a:off x="11119104" y="1700784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0%</a:t>
            </a:r>
            <a:endParaRPr lang="zh-CN" sz="3156"/>
          </a:p>
        </p:txBody>
      </p:sp>
      <p:sp>
        <p:nvSpPr>
          <p:cNvPr id="451" name="TextBox 413"/>
          <p:cNvSpPr txBox="1"/>
          <p:nvPr/>
        </p:nvSpPr>
        <p:spPr>
          <a:xfrm>
            <a:off x="9217152" y="194767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00" b="0">
                <a:solidFill>
                  <a:srgbClr val="16264C"/>
                </a:solidFill>
                <a:latin typeface="Arial"/>
                <a:ea typeface="Arial"/>
                <a:cs typeface="Arial"/>
              </a:rPr>
              <a:t>1 copy</a:t>
            </a:r>
            <a:endParaRPr lang="zh-CN" sz="1110"/>
          </a:p>
        </p:txBody>
      </p:sp>
      <p:sp>
        <p:nvSpPr>
          <p:cNvPr id="452" name="TextBox 412"/>
          <p:cNvSpPr txBox="1"/>
          <p:nvPr/>
        </p:nvSpPr>
        <p:spPr>
          <a:xfrm>
            <a:off x="10204704" y="1947672"/>
            <a:ext cx="87782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0%</a:t>
            </a:r>
            <a:endParaRPr lang="zh-CN" sz="3156"/>
          </a:p>
        </p:txBody>
      </p:sp>
      <p:sp>
        <p:nvSpPr>
          <p:cNvPr id="453" name="TextBox 412"/>
          <p:cNvSpPr txBox="1"/>
          <p:nvPr/>
        </p:nvSpPr>
        <p:spPr>
          <a:xfrm>
            <a:off x="11119104" y="1947672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50" b="1">
                <a:solidFill>
                  <a:srgbClr val="16264C"/>
                </a:solidFill>
                <a:latin typeface="Arial"/>
                <a:ea typeface="Arial"/>
                <a:cs typeface="Arial"/>
              </a:rPr>
              <a:t>0%</a:t>
            </a:r>
            <a:endParaRPr lang="zh-CN" sz="3156"/>
          </a:p>
        </p:txBody>
      </p:sp>
      <p:sp>
        <p:nvSpPr>
          <p:cNvPr id="454" name="TextBox 413"/>
          <p:cNvSpPr txBox="1"/>
          <p:nvPr/>
        </p:nvSpPr>
        <p:spPr>
          <a:xfrm>
            <a:off x="9162288" y="2212848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altLang="zh-CN" sz="1200" b="0" dirty="0">
                <a:solidFill>
                  <a:srgbClr val="16264C"/>
                </a:solidFill>
                <a:latin typeface="Arial"/>
                <a:ea typeface="Arial"/>
                <a:cs typeface="Arial"/>
              </a:rPr>
              <a:t>leave-one-out diagnostic  0.85–0.91 / 0.21–0.39</a:t>
            </a:r>
            <a:endParaRPr lang="zh-CN" sz="1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CCE8C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PresentationFormat>宽屏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Spencer Zhang</cp:lastModifiedBy>
  <cp:revision>1</cp:revision>
  <dcterms:modified xsi:type="dcterms:W3CDTF">2026-10-29T00:40:42Z</dcterms:modified>
</cp:coreProperties>
</file>