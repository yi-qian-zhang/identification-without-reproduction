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12649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ray panel title strip">
            <a:extLst>
              <a:ext uri="{FF2B5EF4-FFF2-40B4-BE49-F238E27FC236}">
                <a16:creationId xmlns:a16="http://schemas.microsoft.com/office/drawing/2014/main" id="{132AB4D9-D3D0-145A-2E32-83DD5589BAFF}"/>
              </a:ext>
            </a:extLst>
          </p:cNvPr>
          <p:cNvSpPr>
            <a:spLocks/>
          </p:cNvSpPr>
          <p:nvPr/>
        </p:nvSpPr>
        <p:spPr>
          <a:xfrm>
            <a:off x="508000" y="7772400"/>
            <a:ext cx="11582400" cy="444500"/>
          </a:xfrm>
          <a:prstGeom prst="rect">
            <a:avLst/>
          </a:prstGeom>
          <a:solidFill>
            <a:srgbClr val="EEEEEE"/>
          </a:solidFill>
          <a:ln w="95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15000"/>
                  </a:schemeClr>
                </a:solidFill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Gray panel title strip">
            <a:extLst>
              <a:ext uri="{FF2B5EF4-FFF2-40B4-BE49-F238E27FC236}">
                <a16:creationId xmlns:a16="http://schemas.microsoft.com/office/drawing/2014/main" id="{623122FF-A707-070D-4BA4-FDEC84B52735}"/>
              </a:ext>
            </a:extLst>
          </p:cNvPr>
          <p:cNvSpPr>
            <a:spLocks/>
          </p:cNvSpPr>
          <p:nvPr/>
        </p:nvSpPr>
        <p:spPr>
          <a:xfrm>
            <a:off x="5994400" y="152400"/>
            <a:ext cx="6096000" cy="431800"/>
          </a:xfrm>
          <a:prstGeom prst="rect">
            <a:avLst/>
          </a:prstGeom>
          <a:solidFill>
            <a:srgbClr val="EEEEEE"/>
          </a:solidFill>
          <a:ln w="95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15000"/>
                  </a:schemeClr>
                </a:solidFill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ray panel title strip">
            <a:extLst>
              <a:ext uri="{FF2B5EF4-FFF2-40B4-BE49-F238E27FC236}">
                <a16:creationId xmlns:a16="http://schemas.microsoft.com/office/drawing/2014/main" id="{7C2C5AC7-0357-E3D8-8427-57AD556D514D}"/>
              </a:ext>
            </a:extLst>
          </p:cNvPr>
          <p:cNvSpPr>
            <a:spLocks/>
          </p:cNvSpPr>
          <p:nvPr/>
        </p:nvSpPr>
        <p:spPr>
          <a:xfrm>
            <a:off x="508000" y="152400"/>
            <a:ext cx="4927600" cy="431800"/>
          </a:xfrm>
          <a:prstGeom prst="rect">
            <a:avLst/>
          </a:prstGeom>
          <a:solidFill>
            <a:srgbClr val="EEEEEE"/>
          </a:solidFill>
          <a:ln w="9525"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accent1">
                    <a:shade val="15000"/>
                  </a:schemeClr>
                </a:solidFill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oundrect 12"/>
          <p:cNvSpPr>
            <a:spLocks/>
          </p:cNvSpPr>
          <p:nvPr/>
        </p:nvSpPr>
        <p:spPr>
          <a:xfrm>
            <a:off x="418792" y="120619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Roundrect 13"/>
          <p:cNvSpPr>
            <a:spLocks/>
          </p:cNvSpPr>
          <p:nvPr/>
        </p:nvSpPr>
        <p:spPr>
          <a:xfrm>
            <a:off x="2958512" y="120619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Roundrect 14"/>
          <p:cNvSpPr>
            <a:spLocks/>
          </p:cNvSpPr>
          <p:nvPr/>
        </p:nvSpPr>
        <p:spPr>
          <a:xfrm>
            <a:off x="419501" y="187929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Roundrect 15"/>
          <p:cNvSpPr>
            <a:spLocks/>
          </p:cNvSpPr>
          <p:nvPr/>
        </p:nvSpPr>
        <p:spPr>
          <a:xfrm>
            <a:off x="2959220" y="1879296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Roundrect 29"/>
          <p:cNvSpPr>
            <a:spLocks/>
          </p:cNvSpPr>
          <p:nvPr/>
        </p:nvSpPr>
        <p:spPr>
          <a:xfrm>
            <a:off x="469808" y="126450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Roundrect 30"/>
          <p:cNvSpPr>
            <a:spLocks/>
          </p:cNvSpPr>
          <p:nvPr/>
        </p:nvSpPr>
        <p:spPr>
          <a:xfrm>
            <a:off x="3009528" y="126450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Roundrect 31"/>
          <p:cNvSpPr>
            <a:spLocks/>
          </p:cNvSpPr>
          <p:nvPr/>
        </p:nvSpPr>
        <p:spPr>
          <a:xfrm>
            <a:off x="470517" y="193760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Roundrect 32"/>
          <p:cNvSpPr>
            <a:spLocks/>
          </p:cNvSpPr>
          <p:nvPr/>
        </p:nvSpPr>
        <p:spPr>
          <a:xfrm>
            <a:off x="3010236" y="1937600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Roundrect 33"/>
          <p:cNvSpPr>
            <a:spLocks/>
          </p:cNvSpPr>
          <p:nvPr/>
        </p:nvSpPr>
        <p:spPr>
          <a:xfrm>
            <a:off x="520824" y="132280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Roundrect 34"/>
          <p:cNvSpPr>
            <a:spLocks/>
          </p:cNvSpPr>
          <p:nvPr/>
        </p:nvSpPr>
        <p:spPr>
          <a:xfrm>
            <a:off x="3060544" y="132280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Roundrect 35"/>
          <p:cNvSpPr>
            <a:spLocks/>
          </p:cNvSpPr>
          <p:nvPr/>
        </p:nvSpPr>
        <p:spPr>
          <a:xfrm>
            <a:off x="521533" y="199590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Roundrect 36"/>
          <p:cNvSpPr>
            <a:spLocks/>
          </p:cNvSpPr>
          <p:nvPr/>
        </p:nvSpPr>
        <p:spPr>
          <a:xfrm>
            <a:off x="3061252" y="1995904"/>
            <a:ext cx="437279" cy="415416"/>
          </a:xfrm>
          <a:prstGeom prst="roundRect">
            <a:avLst>
              <a:gd name="adj" fmla="val 7018"/>
            </a:avLst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Rect 37"/>
          <p:cNvSpPr>
            <a:spLocks/>
          </p:cNvSpPr>
          <p:nvPr/>
        </p:nvSpPr>
        <p:spPr>
          <a:xfrm>
            <a:off x="6944682" y="1491366"/>
            <a:ext cx="154573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Rect 38"/>
          <p:cNvSpPr>
            <a:spLocks/>
          </p:cNvSpPr>
          <p:nvPr/>
        </p:nvSpPr>
        <p:spPr>
          <a:xfrm>
            <a:off x="7107391" y="1491366"/>
            <a:ext cx="154573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Rect 39"/>
          <p:cNvSpPr>
            <a:spLocks/>
          </p:cNvSpPr>
          <p:nvPr/>
        </p:nvSpPr>
        <p:spPr>
          <a:xfrm>
            <a:off x="7270099" y="1491366"/>
            <a:ext cx="154573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Rect 40"/>
          <p:cNvSpPr>
            <a:spLocks/>
          </p:cNvSpPr>
          <p:nvPr/>
        </p:nvSpPr>
        <p:spPr>
          <a:xfrm>
            <a:off x="7668735" y="1491366"/>
            <a:ext cx="146438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Rect 41"/>
          <p:cNvSpPr>
            <a:spLocks/>
          </p:cNvSpPr>
          <p:nvPr/>
        </p:nvSpPr>
        <p:spPr>
          <a:xfrm>
            <a:off x="7823309" y="1491366"/>
            <a:ext cx="146438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Rect 42"/>
          <p:cNvSpPr>
            <a:spLocks/>
          </p:cNvSpPr>
          <p:nvPr/>
        </p:nvSpPr>
        <p:spPr>
          <a:xfrm>
            <a:off x="7977882" y="1491366"/>
            <a:ext cx="146438" cy="218640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Rect 43"/>
          <p:cNvSpPr>
            <a:spLocks/>
          </p:cNvSpPr>
          <p:nvPr/>
        </p:nvSpPr>
        <p:spPr>
          <a:xfrm>
            <a:off x="5426642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Rect 44"/>
          <p:cNvSpPr>
            <a:spLocks/>
          </p:cNvSpPr>
          <p:nvPr/>
        </p:nvSpPr>
        <p:spPr>
          <a:xfrm>
            <a:off x="559407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Rect 45"/>
          <p:cNvSpPr>
            <a:spLocks/>
          </p:cNvSpPr>
          <p:nvPr/>
        </p:nvSpPr>
        <p:spPr>
          <a:xfrm>
            <a:off x="5761513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Rect 46"/>
          <p:cNvSpPr>
            <a:spLocks/>
          </p:cNvSpPr>
          <p:nvPr/>
        </p:nvSpPr>
        <p:spPr>
          <a:xfrm>
            <a:off x="592894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Rect 47"/>
          <p:cNvSpPr>
            <a:spLocks/>
          </p:cNvSpPr>
          <p:nvPr/>
        </p:nvSpPr>
        <p:spPr>
          <a:xfrm>
            <a:off x="6096384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ect 48"/>
          <p:cNvSpPr>
            <a:spLocks/>
          </p:cNvSpPr>
          <p:nvPr/>
        </p:nvSpPr>
        <p:spPr>
          <a:xfrm>
            <a:off x="6263820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Rect 49"/>
          <p:cNvSpPr>
            <a:spLocks/>
          </p:cNvSpPr>
          <p:nvPr/>
        </p:nvSpPr>
        <p:spPr>
          <a:xfrm>
            <a:off x="655261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Rect 50"/>
          <p:cNvSpPr>
            <a:spLocks/>
          </p:cNvSpPr>
          <p:nvPr/>
        </p:nvSpPr>
        <p:spPr>
          <a:xfrm>
            <a:off x="6720053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ect 51"/>
          <p:cNvSpPr>
            <a:spLocks/>
          </p:cNvSpPr>
          <p:nvPr/>
        </p:nvSpPr>
        <p:spPr>
          <a:xfrm>
            <a:off x="6887489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Rect 52"/>
          <p:cNvSpPr>
            <a:spLocks/>
          </p:cNvSpPr>
          <p:nvPr/>
        </p:nvSpPr>
        <p:spPr>
          <a:xfrm>
            <a:off x="7054924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Rect 53"/>
          <p:cNvSpPr>
            <a:spLocks/>
          </p:cNvSpPr>
          <p:nvPr/>
        </p:nvSpPr>
        <p:spPr>
          <a:xfrm>
            <a:off x="7222359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Rect 54"/>
          <p:cNvSpPr>
            <a:spLocks/>
          </p:cNvSpPr>
          <p:nvPr/>
        </p:nvSpPr>
        <p:spPr>
          <a:xfrm>
            <a:off x="7389795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Rect 55"/>
          <p:cNvSpPr>
            <a:spLocks/>
          </p:cNvSpPr>
          <p:nvPr/>
        </p:nvSpPr>
        <p:spPr>
          <a:xfrm>
            <a:off x="7678593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ect 56"/>
          <p:cNvSpPr>
            <a:spLocks/>
          </p:cNvSpPr>
          <p:nvPr/>
        </p:nvSpPr>
        <p:spPr>
          <a:xfrm>
            <a:off x="784602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Rect 57"/>
          <p:cNvSpPr>
            <a:spLocks/>
          </p:cNvSpPr>
          <p:nvPr/>
        </p:nvSpPr>
        <p:spPr>
          <a:xfrm>
            <a:off x="8013463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Rect 58"/>
          <p:cNvSpPr>
            <a:spLocks/>
          </p:cNvSpPr>
          <p:nvPr/>
        </p:nvSpPr>
        <p:spPr>
          <a:xfrm>
            <a:off x="818089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Rect 59"/>
          <p:cNvSpPr>
            <a:spLocks/>
          </p:cNvSpPr>
          <p:nvPr/>
        </p:nvSpPr>
        <p:spPr>
          <a:xfrm>
            <a:off x="8348335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ect 60"/>
          <p:cNvSpPr>
            <a:spLocks/>
          </p:cNvSpPr>
          <p:nvPr/>
        </p:nvSpPr>
        <p:spPr>
          <a:xfrm>
            <a:off x="8515770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ect 61"/>
          <p:cNvSpPr>
            <a:spLocks/>
          </p:cNvSpPr>
          <p:nvPr/>
        </p:nvSpPr>
        <p:spPr>
          <a:xfrm>
            <a:off x="880456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Rect 62"/>
          <p:cNvSpPr>
            <a:spLocks/>
          </p:cNvSpPr>
          <p:nvPr/>
        </p:nvSpPr>
        <p:spPr>
          <a:xfrm>
            <a:off x="8972004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Rect 63"/>
          <p:cNvSpPr>
            <a:spLocks/>
          </p:cNvSpPr>
          <p:nvPr/>
        </p:nvSpPr>
        <p:spPr>
          <a:xfrm>
            <a:off x="9139438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Rect 64"/>
          <p:cNvSpPr>
            <a:spLocks/>
          </p:cNvSpPr>
          <p:nvPr/>
        </p:nvSpPr>
        <p:spPr>
          <a:xfrm>
            <a:off x="9306874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Rect 65"/>
          <p:cNvSpPr>
            <a:spLocks/>
          </p:cNvSpPr>
          <p:nvPr/>
        </p:nvSpPr>
        <p:spPr>
          <a:xfrm>
            <a:off x="9474309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ect 66"/>
          <p:cNvSpPr>
            <a:spLocks/>
          </p:cNvSpPr>
          <p:nvPr/>
        </p:nvSpPr>
        <p:spPr>
          <a:xfrm>
            <a:off x="9641745" y="8741556"/>
            <a:ext cx="167435" cy="196776"/>
          </a:xfrm>
          <a:prstGeom prst="rect">
            <a:avLst/>
          </a:prstGeom>
          <a:solidFill>
            <a:srgbClr val="E5EDF8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Rect 67"/>
          <p:cNvSpPr>
            <a:spLocks/>
          </p:cNvSpPr>
          <p:nvPr/>
        </p:nvSpPr>
        <p:spPr>
          <a:xfrm>
            <a:off x="5426642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Rect 68"/>
          <p:cNvSpPr>
            <a:spLocks/>
          </p:cNvSpPr>
          <p:nvPr/>
        </p:nvSpPr>
        <p:spPr>
          <a:xfrm>
            <a:off x="5974459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Rect 69"/>
          <p:cNvSpPr>
            <a:spLocks/>
          </p:cNvSpPr>
          <p:nvPr/>
        </p:nvSpPr>
        <p:spPr>
          <a:xfrm>
            <a:off x="6522277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Rect 70"/>
          <p:cNvSpPr>
            <a:spLocks/>
          </p:cNvSpPr>
          <p:nvPr/>
        </p:nvSpPr>
        <p:spPr>
          <a:xfrm>
            <a:off x="7070094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ect 71"/>
          <p:cNvSpPr>
            <a:spLocks/>
          </p:cNvSpPr>
          <p:nvPr/>
        </p:nvSpPr>
        <p:spPr>
          <a:xfrm>
            <a:off x="7617911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Rect 72"/>
          <p:cNvSpPr>
            <a:spLocks/>
          </p:cNvSpPr>
          <p:nvPr/>
        </p:nvSpPr>
        <p:spPr>
          <a:xfrm>
            <a:off x="8165728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Rect 73"/>
          <p:cNvSpPr>
            <a:spLocks/>
          </p:cNvSpPr>
          <p:nvPr/>
        </p:nvSpPr>
        <p:spPr>
          <a:xfrm>
            <a:off x="8713546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4" name="Rect 74"/>
          <p:cNvSpPr>
            <a:spLocks/>
          </p:cNvSpPr>
          <p:nvPr/>
        </p:nvSpPr>
        <p:spPr>
          <a:xfrm>
            <a:off x="9261363" y="9610207"/>
            <a:ext cx="547817" cy="185201"/>
          </a:xfrm>
          <a:prstGeom prst="rect">
            <a:avLst/>
          </a:prstGeom>
          <a:solidFill>
            <a:srgbClr val="F9E7DB"/>
          </a:solidFill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Ellipse 75"/>
          <p:cNvSpPr>
            <a:spLocks/>
          </p:cNvSpPr>
          <p:nvPr/>
        </p:nvSpPr>
        <p:spPr>
          <a:xfrm>
            <a:off x="1837582" y="3521261"/>
            <a:ext cx="116608" cy="116608"/>
          </a:xfrm>
          <a:prstGeom prst="ellipse">
            <a:avLst/>
          </a:pr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6" name="Path 76"/>
          <p:cNvSpPr>
            <a:spLocks/>
          </p:cNvSpPr>
          <p:nvPr/>
        </p:nvSpPr>
        <p:spPr>
          <a:xfrm>
            <a:off x="1771990" y="36670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7" name="Ellipse 77"/>
          <p:cNvSpPr>
            <a:spLocks/>
          </p:cNvSpPr>
          <p:nvPr/>
        </p:nvSpPr>
        <p:spPr>
          <a:xfrm>
            <a:off x="2216558" y="3521261"/>
            <a:ext cx="116608" cy="116608"/>
          </a:xfrm>
          <a:prstGeom prst="ellipse">
            <a:avLst/>
          </a:pr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8" name="Path 78"/>
          <p:cNvSpPr>
            <a:spLocks/>
          </p:cNvSpPr>
          <p:nvPr/>
        </p:nvSpPr>
        <p:spPr>
          <a:xfrm>
            <a:off x="2150966" y="36670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Ellipse 79"/>
          <p:cNvSpPr>
            <a:spLocks/>
          </p:cNvSpPr>
          <p:nvPr/>
        </p:nvSpPr>
        <p:spPr>
          <a:xfrm>
            <a:off x="2595533" y="3521261"/>
            <a:ext cx="116608" cy="116608"/>
          </a:xfrm>
          <a:prstGeom prst="ellipse">
            <a:avLst/>
          </a:pr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0" name="Path 80"/>
          <p:cNvSpPr>
            <a:spLocks/>
          </p:cNvSpPr>
          <p:nvPr/>
        </p:nvSpPr>
        <p:spPr>
          <a:xfrm>
            <a:off x="2529941" y="36670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1" name="Ellipse 81"/>
          <p:cNvSpPr>
            <a:spLocks/>
          </p:cNvSpPr>
          <p:nvPr/>
        </p:nvSpPr>
        <p:spPr>
          <a:xfrm>
            <a:off x="2974509" y="3521261"/>
            <a:ext cx="116608" cy="116608"/>
          </a:xfrm>
          <a:prstGeom prst="ellipse">
            <a:avLst/>
          </a:pr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2" name="Path 82"/>
          <p:cNvSpPr>
            <a:spLocks/>
          </p:cNvSpPr>
          <p:nvPr/>
        </p:nvSpPr>
        <p:spPr>
          <a:xfrm>
            <a:off x="2908917" y="36670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9CB0C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3" name="Ellipse 83"/>
          <p:cNvSpPr>
            <a:spLocks/>
          </p:cNvSpPr>
          <p:nvPr/>
        </p:nvSpPr>
        <p:spPr>
          <a:xfrm>
            <a:off x="3353484" y="3521261"/>
            <a:ext cx="116608" cy="116608"/>
          </a:xfrm>
          <a:prstGeom prst="ellipse">
            <a:avLst/>
          </a:prstGeom>
          <a:solidFill>
            <a:srgbClr val="D477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4" name="Path 84"/>
          <p:cNvSpPr>
            <a:spLocks/>
          </p:cNvSpPr>
          <p:nvPr/>
        </p:nvSpPr>
        <p:spPr>
          <a:xfrm>
            <a:off x="3287892" y="3667020"/>
            <a:ext cx="247792" cy="31338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5718" y="0"/>
                </a:moveTo>
                <a:cubicBezTo>
                  <a:pt x="1271" y="0"/>
                  <a:pt x="0" y="2009"/>
                  <a:pt x="0" y="7535"/>
                </a:cubicBezTo>
                <a:lnTo>
                  <a:pt x="0" y="10549"/>
                </a:lnTo>
                <a:quadBezTo>
                  <a:pt x="1906" y="12056"/>
                  <a:pt x="3812" y="10549"/>
                </a:quadBezTo>
                <a:lnTo>
                  <a:pt x="5082" y="4521"/>
                </a:lnTo>
                <a:lnTo>
                  <a:pt x="5082" y="19088"/>
                </a:lnTo>
                <a:quadBezTo>
                  <a:pt x="8259" y="21600"/>
                  <a:pt x="10165" y="19088"/>
                </a:quadBezTo>
                <a:lnTo>
                  <a:pt x="10800" y="11553"/>
                </a:lnTo>
                <a:lnTo>
                  <a:pt x="11435" y="19088"/>
                </a:lnTo>
                <a:quadBezTo>
                  <a:pt x="13976" y="21600"/>
                  <a:pt x="16518" y="19088"/>
                </a:quadBezTo>
                <a:lnTo>
                  <a:pt x="16518" y="4521"/>
                </a:lnTo>
                <a:lnTo>
                  <a:pt x="17788" y="10549"/>
                </a:lnTo>
                <a:quadBezTo>
                  <a:pt x="19694" y="12056"/>
                  <a:pt x="21600" y="10549"/>
                </a:quadBezTo>
                <a:lnTo>
                  <a:pt x="21600" y="7535"/>
                </a:lnTo>
                <a:cubicBezTo>
                  <a:pt x="21600" y="2009"/>
                  <a:pt x="19694" y="0"/>
                  <a:pt x="15882" y="0"/>
                </a:cubicBezTo>
                <a:close/>
              </a:path>
            </a:pathLst>
          </a:custGeom>
          <a:solidFill>
            <a:srgbClr val="D477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Line 85"/>
          <p:cNvSpPr>
            <a:spLocks/>
          </p:cNvSpPr>
          <p:nvPr/>
        </p:nvSpPr>
        <p:spPr>
          <a:xfrm>
            <a:off x="61588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6" name="Line 86"/>
          <p:cNvSpPr>
            <a:spLocks/>
          </p:cNvSpPr>
          <p:nvPr/>
        </p:nvSpPr>
        <p:spPr>
          <a:xfrm>
            <a:off x="74912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Line 87"/>
          <p:cNvSpPr>
            <a:spLocks/>
          </p:cNvSpPr>
          <p:nvPr/>
        </p:nvSpPr>
        <p:spPr>
          <a:xfrm flipV="1">
            <a:off x="882362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8" name="Line 88"/>
          <p:cNvSpPr>
            <a:spLocks/>
          </p:cNvSpPr>
          <p:nvPr/>
        </p:nvSpPr>
        <p:spPr>
          <a:xfrm flipV="1">
            <a:off x="101560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Line 89"/>
          <p:cNvSpPr>
            <a:spLocks/>
          </p:cNvSpPr>
          <p:nvPr/>
        </p:nvSpPr>
        <p:spPr>
          <a:xfrm>
            <a:off x="114884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0" name="Line 90"/>
          <p:cNvSpPr>
            <a:spLocks/>
          </p:cNvSpPr>
          <p:nvPr/>
        </p:nvSpPr>
        <p:spPr>
          <a:xfrm>
            <a:off x="128208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Line 91"/>
          <p:cNvSpPr>
            <a:spLocks/>
          </p:cNvSpPr>
          <p:nvPr/>
        </p:nvSpPr>
        <p:spPr>
          <a:xfrm flipV="1">
            <a:off x="141532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2" name="Line 92"/>
          <p:cNvSpPr>
            <a:spLocks/>
          </p:cNvSpPr>
          <p:nvPr/>
        </p:nvSpPr>
        <p:spPr>
          <a:xfrm flipV="1">
            <a:off x="154856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3" name="Line 93"/>
          <p:cNvSpPr>
            <a:spLocks/>
          </p:cNvSpPr>
          <p:nvPr/>
        </p:nvSpPr>
        <p:spPr>
          <a:xfrm>
            <a:off x="168180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4" name="Line 94"/>
          <p:cNvSpPr>
            <a:spLocks/>
          </p:cNvSpPr>
          <p:nvPr/>
        </p:nvSpPr>
        <p:spPr>
          <a:xfrm>
            <a:off x="181504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" name="Line 95"/>
          <p:cNvSpPr>
            <a:spLocks/>
          </p:cNvSpPr>
          <p:nvPr/>
        </p:nvSpPr>
        <p:spPr>
          <a:xfrm flipV="1">
            <a:off x="194828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6" name="Line 96"/>
          <p:cNvSpPr>
            <a:spLocks/>
          </p:cNvSpPr>
          <p:nvPr/>
        </p:nvSpPr>
        <p:spPr>
          <a:xfrm flipV="1">
            <a:off x="208152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7" name="Line 97"/>
          <p:cNvSpPr>
            <a:spLocks/>
          </p:cNvSpPr>
          <p:nvPr/>
        </p:nvSpPr>
        <p:spPr>
          <a:xfrm>
            <a:off x="221476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8" name="Line 98"/>
          <p:cNvSpPr>
            <a:spLocks/>
          </p:cNvSpPr>
          <p:nvPr/>
        </p:nvSpPr>
        <p:spPr>
          <a:xfrm>
            <a:off x="234800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9" name="Line 99"/>
          <p:cNvSpPr>
            <a:spLocks/>
          </p:cNvSpPr>
          <p:nvPr/>
        </p:nvSpPr>
        <p:spPr>
          <a:xfrm flipV="1">
            <a:off x="248124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0" name="Line 100"/>
          <p:cNvSpPr>
            <a:spLocks/>
          </p:cNvSpPr>
          <p:nvPr/>
        </p:nvSpPr>
        <p:spPr>
          <a:xfrm flipV="1">
            <a:off x="261447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1" name="Line 101"/>
          <p:cNvSpPr>
            <a:spLocks/>
          </p:cNvSpPr>
          <p:nvPr/>
        </p:nvSpPr>
        <p:spPr>
          <a:xfrm>
            <a:off x="274771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Line 102"/>
          <p:cNvSpPr>
            <a:spLocks/>
          </p:cNvSpPr>
          <p:nvPr/>
        </p:nvSpPr>
        <p:spPr>
          <a:xfrm>
            <a:off x="288095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3" name="Line 103"/>
          <p:cNvSpPr>
            <a:spLocks/>
          </p:cNvSpPr>
          <p:nvPr/>
        </p:nvSpPr>
        <p:spPr>
          <a:xfrm flipV="1">
            <a:off x="301420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4" name="Line 104"/>
          <p:cNvSpPr>
            <a:spLocks/>
          </p:cNvSpPr>
          <p:nvPr/>
        </p:nvSpPr>
        <p:spPr>
          <a:xfrm flipV="1">
            <a:off x="314744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5" name="Line 105"/>
          <p:cNvSpPr>
            <a:spLocks/>
          </p:cNvSpPr>
          <p:nvPr/>
        </p:nvSpPr>
        <p:spPr>
          <a:xfrm>
            <a:off x="328068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6" name="Line 106"/>
          <p:cNvSpPr>
            <a:spLocks/>
          </p:cNvSpPr>
          <p:nvPr/>
        </p:nvSpPr>
        <p:spPr>
          <a:xfrm>
            <a:off x="341392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Line 107"/>
          <p:cNvSpPr>
            <a:spLocks/>
          </p:cNvSpPr>
          <p:nvPr/>
        </p:nvSpPr>
        <p:spPr>
          <a:xfrm flipV="1">
            <a:off x="354716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8" name="Line 108"/>
          <p:cNvSpPr>
            <a:spLocks/>
          </p:cNvSpPr>
          <p:nvPr/>
        </p:nvSpPr>
        <p:spPr>
          <a:xfrm flipV="1">
            <a:off x="368040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9" name="Line 109"/>
          <p:cNvSpPr>
            <a:spLocks/>
          </p:cNvSpPr>
          <p:nvPr/>
        </p:nvSpPr>
        <p:spPr>
          <a:xfrm>
            <a:off x="381364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" name="Line 110"/>
          <p:cNvSpPr>
            <a:spLocks/>
          </p:cNvSpPr>
          <p:nvPr/>
        </p:nvSpPr>
        <p:spPr>
          <a:xfrm>
            <a:off x="394688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1" name="Line 111"/>
          <p:cNvSpPr>
            <a:spLocks/>
          </p:cNvSpPr>
          <p:nvPr/>
        </p:nvSpPr>
        <p:spPr>
          <a:xfrm flipV="1">
            <a:off x="4080120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Line 112"/>
          <p:cNvSpPr>
            <a:spLocks/>
          </p:cNvSpPr>
          <p:nvPr/>
        </p:nvSpPr>
        <p:spPr>
          <a:xfrm flipV="1">
            <a:off x="4213361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" name="Line 113"/>
          <p:cNvSpPr>
            <a:spLocks/>
          </p:cNvSpPr>
          <p:nvPr/>
        </p:nvSpPr>
        <p:spPr>
          <a:xfrm>
            <a:off x="434659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4" name="Line 114"/>
          <p:cNvSpPr>
            <a:spLocks/>
          </p:cNvSpPr>
          <p:nvPr/>
        </p:nvSpPr>
        <p:spPr>
          <a:xfrm>
            <a:off x="447983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5" name="Line 115"/>
          <p:cNvSpPr>
            <a:spLocks/>
          </p:cNvSpPr>
          <p:nvPr/>
        </p:nvSpPr>
        <p:spPr>
          <a:xfrm flipV="1">
            <a:off x="461307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6" name="Line 116"/>
          <p:cNvSpPr>
            <a:spLocks/>
          </p:cNvSpPr>
          <p:nvPr/>
        </p:nvSpPr>
        <p:spPr>
          <a:xfrm flipV="1">
            <a:off x="4746319" y="408574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Line 117"/>
          <p:cNvSpPr>
            <a:spLocks/>
          </p:cNvSpPr>
          <p:nvPr/>
        </p:nvSpPr>
        <p:spPr>
          <a:xfrm>
            <a:off x="611163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8" name="Line 118"/>
          <p:cNvSpPr>
            <a:spLocks/>
          </p:cNvSpPr>
          <p:nvPr/>
        </p:nvSpPr>
        <p:spPr>
          <a:xfrm>
            <a:off x="737866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9" name="Line 119"/>
          <p:cNvSpPr>
            <a:spLocks/>
          </p:cNvSpPr>
          <p:nvPr/>
        </p:nvSpPr>
        <p:spPr>
          <a:xfrm flipV="1">
            <a:off x="864570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0" name="Line 120"/>
          <p:cNvSpPr>
            <a:spLocks/>
          </p:cNvSpPr>
          <p:nvPr/>
        </p:nvSpPr>
        <p:spPr>
          <a:xfrm flipV="1">
            <a:off x="991272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1" name="Line 121"/>
          <p:cNvSpPr>
            <a:spLocks/>
          </p:cNvSpPr>
          <p:nvPr/>
        </p:nvSpPr>
        <p:spPr>
          <a:xfrm>
            <a:off x="1117976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2" name="Line 122"/>
          <p:cNvSpPr>
            <a:spLocks/>
          </p:cNvSpPr>
          <p:nvPr/>
        </p:nvSpPr>
        <p:spPr>
          <a:xfrm>
            <a:off x="1244679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3" name="Line 123"/>
          <p:cNvSpPr>
            <a:spLocks/>
          </p:cNvSpPr>
          <p:nvPr/>
        </p:nvSpPr>
        <p:spPr>
          <a:xfrm flipV="1">
            <a:off x="1371383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" name="Line 124"/>
          <p:cNvSpPr>
            <a:spLocks/>
          </p:cNvSpPr>
          <p:nvPr/>
        </p:nvSpPr>
        <p:spPr>
          <a:xfrm flipV="1">
            <a:off x="1498085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5" name="Line 125"/>
          <p:cNvSpPr>
            <a:spLocks/>
          </p:cNvSpPr>
          <p:nvPr/>
        </p:nvSpPr>
        <p:spPr>
          <a:xfrm>
            <a:off x="1624788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6" name="Line 126"/>
          <p:cNvSpPr>
            <a:spLocks/>
          </p:cNvSpPr>
          <p:nvPr/>
        </p:nvSpPr>
        <p:spPr>
          <a:xfrm>
            <a:off x="1751492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7" name="Line 127"/>
          <p:cNvSpPr>
            <a:spLocks/>
          </p:cNvSpPr>
          <p:nvPr/>
        </p:nvSpPr>
        <p:spPr>
          <a:xfrm flipV="1">
            <a:off x="1878194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8" name="Line 128"/>
          <p:cNvSpPr>
            <a:spLocks/>
          </p:cNvSpPr>
          <p:nvPr/>
        </p:nvSpPr>
        <p:spPr>
          <a:xfrm flipV="1">
            <a:off x="2004899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" name="Line 129"/>
          <p:cNvSpPr>
            <a:spLocks/>
          </p:cNvSpPr>
          <p:nvPr/>
        </p:nvSpPr>
        <p:spPr>
          <a:xfrm>
            <a:off x="2131601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0" name="Line 130"/>
          <p:cNvSpPr>
            <a:spLocks/>
          </p:cNvSpPr>
          <p:nvPr/>
        </p:nvSpPr>
        <p:spPr>
          <a:xfrm>
            <a:off x="2258303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1" name="Line 131"/>
          <p:cNvSpPr>
            <a:spLocks/>
          </p:cNvSpPr>
          <p:nvPr/>
        </p:nvSpPr>
        <p:spPr>
          <a:xfrm flipV="1">
            <a:off x="2385008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2" name="Line 132"/>
          <p:cNvSpPr>
            <a:spLocks/>
          </p:cNvSpPr>
          <p:nvPr/>
        </p:nvSpPr>
        <p:spPr>
          <a:xfrm flipV="1">
            <a:off x="2511710" y="4814381"/>
            <a:ext cx="0" cy="133988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3" name="Line 133"/>
          <p:cNvSpPr>
            <a:spLocks/>
          </p:cNvSpPr>
          <p:nvPr/>
        </p:nvSpPr>
        <p:spPr>
          <a:xfrm>
            <a:off x="2794021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4" name="Line 134"/>
          <p:cNvSpPr>
            <a:spLocks/>
          </p:cNvSpPr>
          <p:nvPr/>
        </p:nvSpPr>
        <p:spPr>
          <a:xfrm>
            <a:off x="2919361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5" name="Line 135"/>
          <p:cNvSpPr>
            <a:spLocks/>
          </p:cNvSpPr>
          <p:nvPr/>
        </p:nvSpPr>
        <p:spPr>
          <a:xfrm flipV="1">
            <a:off x="3044701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6" name="Line 136"/>
          <p:cNvSpPr>
            <a:spLocks/>
          </p:cNvSpPr>
          <p:nvPr/>
        </p:nvSpPr>
        <p:spPr>
          <a:xfrm flipV="1">
            <a:off x="3170043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7" name="Line 137"/>
          <p:cNvSpPr>
            <a:spLocks/>
          </p:cNvSpPr>
          <p:nvPr/>
        </p:nvSpPr>
        <p:spPr>
          <a:xfrm>
            <a:off x="3295383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8" name="Line 138"/>
          <p:cNvSpPr>
            <a:spLocks/>
          </p:cNvSpPr>
          <p:nvPr/>
        </p:nvSpPr>
        <p:spPr>
          <a:xfrm>
            <a:off x="3420725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9" name="Line 139"/>
          <p:cNvSpPr>
            <a:spLocks/>
          </p:cNvSpPr>
          <p:nvPr/>
        </p:nvSpPr>
        <p:spPr>
          <a:xfrm flipV="1">
            <a:off x="3546064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0" name="Line 140"/>
          <p:cNvSpPr>
            <a:spLocks/>
          </p:cNvSpPr>
          <p:nvPr/>
        </p:nvSpPr>
        <p:spPr>
          <a:xfrm flipV="1">
            <a:off x="3671406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1" name="Line 141"/>
          <p:cNvSpPr>
            <a:spLocks/>
          </p:cNvSpPr>
          <p:nvPr/>
        </p:nvSpPr>
        <p:spPr>
          <a:xfrm>
            <a:off x="3796746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2" name="Line 142"/>
          <p:cNvSpPr>
            <a:spLocks/>
          </p:cNvSpPr>
          <p:nvPr/>
        </p:nvSpPr>
        <p:spPr>
          <a:xfrm>
            <a:off x="3922086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3" name="Line 143"/>
          <p:cNvSpPr>
            <a:spLocks/>
          </p:cNvSpPr>
          <p:nvPr/>
        </p:nvSpPr>
        <p:spPr>
          <a:xfrm flipV="1">
            <a:off x="4047428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4" name="Line 144"/>
          <p:cNvSpPr>
            <a:spLocks/>
          </p:cNvSpPr>
          <p:nvPr/>
        </p:nvSpPr>
        <p:spPr>
          <a:xfrm flipV="1">
            <a:off x="4172768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5" name="Line 145"/>
          <p:cNvSpPr>
            <a:spLocks/>
          </p:cNvSpPr>
          <p:nvPr/>
        </p:nvSpPr>
        <p:spPr>
          <a:xfrm>
            <a:off x="4298109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6" name="Line 146"/>
          <p:cNvSpPr>
            <a:spLocks/>
          </p:cNvSpPr>
          <p:nvPr/>
        </p:nvSpPr>
        <p:spPr>
          <a:xfrm>
            <a:off x="4423449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7" name="Line 147"/>
          <p:cNvSpPr>
            <a:spLocks/>
          </p:cNvSpPr>
          <p:nvPr/>
        </p:nvSpPr>
        <p:spPr>
          <a:xfrm flipV="1">
            <a:off x="4548790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8" name="Line 148"/>
          <p:cNvSpPr>
            <a:spLocks/>
          </p:cNvSpPr>
          <p:nvPr/>
        </p:nvSpPr>
        <p:spPr>
          <a:xfrm flipV="1">
            <a:off x="4674131" y="4814381"/>
            <a:ext cx="0" cy="133988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9" name="Roundrect 149"/>
          <p:cNvSpPr>
            <a:spLocks/>
          </p:cNvSpPr>
          <p:nvPr/>
        </p:nvSpPr>
        <p:spPr>
          <a:xfrm>
            <a:off x="533399" y="6095999"/>
            <a:ext cx="1905000" cy="546100"/>
          </a:xfrm>
          <a:prstGeom prst="roundRect">
            <a:avLst>
              <a:gd name="adj" fmla="val 15278"/>
            </a:avLst>
          </a:prstGeom>
          <a:solidFill>
            <a:srgbClr val="EEEEEE"/>
          </a:solidFill>
          <a:ln w="8016">
            <a:solidFill>
              <a:srgbClr val="5A5A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0" name="Roundrect 150"/>
          <p:cNvSpPr>
            <a:spLocks/>
          </p:cNvSpPr>
          <p:nvPr/>
        </p:nvSpPr>
        <p:spPr>
          <a:xfrm>
            <a:off x="3622939" y="5978609"/>
            <a:ext cx="798587" cy="737501"/>
          </a:xfrm>
          <a:prstGeom prst="roundRect">
            <a:avLst>
              <a:gd name="adj" fmla="val 9735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1" name="Line 151"/>
          <p:cNvSpPr>
            <a:spLocks/>
          </p:cNvSpPr>
          <p:nvPr/>
        </p:nvSpPr>
        <p:spPr>
          <a:xfrm>
            <a:off x="5890266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2" name="Line 152"/>
          <p:cNvSpPr>
            <a:spLocks/>
          </p:cNvSpPr>
          <p:nvPr/>
        </p:nvSpPr>
        <p:spPr>
          <a:xfrm>
            <a:off x="5960109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3" name="Line 153"/>
          <p:cNvSpPr>
            <a:spLocks/>
          </p:cNvSpPr>
          <p:nvPr/>
        </p:nvSpPr>
        <p:spPr>
          <a:xfrm flipV="1">
            <a:off x="6029952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4" name="Line 154"/>
          <p:cNvSpPr>
            <a:spLocks/>
          </p:cNvSpPr>
          <p:nvPr/>
        </p:nvSpPr>
        <p:spPr>
          <a:xfrm flipV="1">
            <a:off x="6099795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5" name="Line 155"/>
          <p:cNvSpPr>
            <a:spLocks/>
          </p:cNvSpPr>
          <p:nvPr/>
        </p:nvSpPr>
        <p:spPr>
          <a:xfrm>
            <a:off x="6169639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6" name="Line 156"/>
          <p:cNvSpPr>
            <a:spLocks/>
          </p:cNvSpPr>
          <p:nvPr/>
        </p:nvSpPr>
        <p:spPr>
          <a:xfrm>
            <a:off x="6239482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7" name="Line 157"/>
          <p:cNvSpPr>
            <a:spLocks/>
          </p:cNvSpPr>
          <p:nvPr/>
        </p:nvSpPr>
        <p:spPr>
          <a:xfrm flipV="1">
            <a:off x="6309325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8" name="Line 158"/>
          <p:cNvSpPr>
            <a:spLocks/>
          </p:cNvSpPr>
          <p:nvPr/>
        </p:nvSpPr>
        <p:spPr>
          <a:xfrm flipV="1">
            <a:off x="6379168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9" name="Line 159"/>
          <p:cNvSpPr>
            <a:spLocks/>
          </p:cNvSpPr>
          <p:nvPr/>
        </p:nvSpPr>
        <p:spPr>
          <a:xfrm>
            <a:off x="6449012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0" name="Line 160"/>
          <p:cNvSpPr>
            <a:spLocks/>
          </p:cNvSpPr>
          <p:nvPr/>
        </p:nvSpPr>
        <p:spPr>
          <a:xfrm>
            <a:off x="6518855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1" name="Line 161"/>
          <p:cNvSpPr>
            <a:spLocks/>
          </p:cNvSpPr>
          <p:nvPr/>
        </p:nvSpPr>
        <p:spPr>
          <a:xfrm flipV="1">
            <a:off x="6588698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2" name="Line 162"/>
          <p:cNvSpPr>
            <a:spLocks/>
          </p:cNvSpPr>
          <p:nvPr/>
        </p:nvSpPr>
        <p:spPr>
          <a:xfrm flipV="1">
            <a:off x="6658541" y="1531115"/>
            <a:ext cx="0" cy="139141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4" name="Roundrect 164"/>
          <p:cNvSpPr>
            <a:spLocks/>
          </p:cNvSpPr>
          <p:nvPr/>
        </p:nvSpPr>
        <p:spPr>
          <a:xfrm>
            <a:off x="8445499" y="1435099"/>
            <a:ext cx="3302000" cy="546100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8016">
            <a:solidFill>
              <a:srgbClr val="5A5A5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2" name="Line 182"/>
          <p:cNvSpPr>
            <a:spLocks/>
          </p:cNvSpPr>
          <p:nvPr/>
        </p:nvSpPr>
        <p:spPr>
          <a:xfrm>
            <a:off x="5866731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Line 183"/>
          <p:cNvSpPr>
            <a:spLocks/>
          </p:cNvSpPr>
          <p:nvPr/>
        </p:nvSpPr>
        <p:spPr>
          <a:xfrm>
            <a:off x="5933234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4" name="Line 184"/>
          <p:cNvSpPr>
            <a:spLocks/>
          </p:cNvSpPr>
          <p:nvPr/>
        </p:nvSpPr>
        <p:spPr>
          <a:xfrm flipV="1">
            <a:off x="5999737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Line 185"/>
          <p:cNvSpPr>
            <a:spLocks/>
          </p:cNvSpPr>
          <p:nvPr/>
        </p:nvSpPr>
        <p:spPr>
          <a:xfrm flipV="1">
            <a:off x="6066240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6" name="Line 186"/>
          <p:cNvSpPr>
            <a:spLocks/>
          </p:cNvSpPr>
          <p:nvPr/>
        </p:nvSpPr>
        <p:spPr>
          <a:xfrm>
            <a:off x="6132743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Line 187"/>
          <p:cNvSpPr>
            <a:spLocks/>
          </p:cNvSpPr>
          <p:nvPr/>
        </p:nvSpPr>
        <p:spPr>
          <a:xfrm>
            <a:off x="6199246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8" name="Line 188"/>
          <p:cNvSpPr>
            <a:spLocks/>
          </p:cNvSpPr>
          <p:nvPr/>
        </p:nvSpPr>
        <p:spPr>
          <a:xfrm flipV="1">
            <a:off x="6265749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9" name="Line 189"/>
          <p:cNvSpPr>
            <a:spLocks/>
          </p:cNvSpPr>
          <p:nvPr/>
        </p:nvSpPr>
        <p:spPr>
          <a:xfrm flipV="1">
            <a:off x="6332252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0" name="Line 190"/>
          <p:cNvSpPr>
            <a:spLocks/>
          </p:cNvSpPr>
          <p:nvPr/>
        </p:nvSpPr>
        <p:spPr>
          <a:xfrm>
            <a:off x="6398755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1" name="Line 191"/>
          <p:cNvSpPr>
            <a:spLocks/>
          </p:cNvSpPr>
          <p:nvPr/>
        </p:nvSpPr>
        <p:spPr>
          <a:xfrm>
            <a:off x="6465258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2" name="Line 192"/>
          <p:cNvSpPr>
            <a:spLocks/>
          </p:cNvSpPr>
          <p:nvPr/>
        </p:nvSpPr>
        <p:spPr>
          <a:xfrm flipV="1">
            <a:off x="6531761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3" name="Line 193"/>
          <p:cNvSpPr>
            <a:spLocks/>
          </p:cNvSpPr>
          <p:nvPr/>
        </p:nvSpPr>
        <p:spPr>
          <a:xfrm flipV="1">
            <a:off x="6598264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4" name="Line 194"/>
          <p:cNvSpPr>
            <a:spLocks/>
          </p:cNvSpPr>
          <p:nvPr/>
        </p:nvSpPr>
        <p:spPr>
          <a:xfrm>
            <a:off x="6664766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5" name="Line 195"/>
          <p:cNvSpPr>
            <a:spLocks/>
          </p:cNvSpPr>
          <p:nvPr/>
        </p:nvSpPr>
        <p:spPr>
          <a:xfrm>
            <a:off x="6731269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6" name="Line 196"/>
          <p:cNvSpPr>
            <a:spLocks/>
          </p:cNvSpPr>
          <p:nvPr/>
        </p:nvSpPr>
        <p:spPr>
          <a:xfrm flipV="1">
            <a:off x="6797772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7" name="Line 197"/>
          <p:cNvSpPr>
            <a:spLocks/>
          </p:cNvSpPr>
          <p:nvPr/>
        </p:nvSpPr>
        <p:spPr>
          <a:xfrm flipV="1">
            <a:off x="6864275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8" name="Line 198"/>
          <p:cNvSpPr>
            <a:spLocks/>
          </p:cNvSpPr>
          <p:nvPr/>
        </p:nvSpPr>
        <p:spPr>
          <a:xfrm>
            <a:off x="6930778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9" name="Line 199"/>
          <p:cNvSpPr>
            <a:spLocks/>
          </p:cNvSpPr>
          <p:nvPr/>
        </p:nvSpPr>
        <p:spPr>
          <a:xfrm>
            <a:off x="6997281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0" name="Line 200"/>
          <p:cNvSpPr>
            <a:spLocks/>
          </p:cNvSpPr>
          <p:nvPr/>
        </p:nvSpPr>
        <p:spPr>
          <a:xfrm flipV="1">
            <a:off x="7063784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Line 201"/>
          <p:cNvSpPr>
            <a:spLocks/>
          </p:cNvSpPr>
          <p:nvPr/>
        </p:nvSpPr>
        <p:spPr>
          <a:xfrm flipV="1">
            <a:off x="7130287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2" name="Line 202"/>
          <p:cNvSpPr>
            <a:spLocks/>
          </p:cNvSpPr>
          <p:nvPr/>
        </p:nvSpPr>
        <p:spPr>
          <a:xfrm>
            <a:off x="7196790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3" name="Line 203"/>
          <p:cNvSpPr>
            <a:spLocks/>
          </p:cNvSpPr>
          <p:nvPr/>
        </p:nvSpPr>
        <p:spPr>
          <a:xfrm>
            <a:off x="7263293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4" name="Line 204"/>
          <p:cNvSpPr>
            <a:spLocks/>
          </p:cNvSpPr>
          <p:nvPr/>
        </p:nvSpPr>
        <p:spPr>
          <a:xfrm flipV="1">
            <a:off x="7329796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5" name="Line 205"/>
          <p:cNvSpPr>
            <a:spLocks/>
          </p:cNvSpPr>
          <p:nvPr/>
        </p:nvSpPr>
        <p:spPr>
          <a:xfrm flipV="1">
            <a:off x="7396299" y="4881466"/>
            <a:ext cx="0" cy="108221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Line 206"/>
          <p:cNvSpPr>
            <a:spLocks/>
          </p:cNvSpPr>
          <p:nvPr/>
        </p:nvSpPr>
        <p:spPr>
          <a:xfrm>
            <a:off x="5866731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7" name="Line 207"/>
          <p:cNvSpPr>
            <a:spLocks/>
          </p:cNvSpPr>
          <p:nvPr/>
        </p:nvSpPr>
        <p:spPr>
          <a:xfrm>
            <a:off x="5933234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8" name="Line 208"/>
          <p:cNvSpPr>
            <a:spLocks/>
          </p:cNvSpPr>
          <p:nvPr/>
        </p:nvSpPr>
        <p:spPr>
          <a:xfrm flipV="1">
            <a:off x="5999737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9" name="Line 209"/>
          <p:cNvSpPr>
            <a:spLocks/>
          </p:cNvSpPr>
          <p:nvPr/>
        </p:nvSpPr>
        <p:spPr>
          <a:xfrm flipV="1">
            <a:off x="6066240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0" name="Line 210"/>
          <p:cNvSpPr>
            <a:spLocks/>
          </p:cNvSpPr>
          <p:nvPr/>
        </p:nvSpPr>
        <p:spPr>
          <a:xfrm>
            <a:off x="6132743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Line 211"/>
          <p:cNvSpPr>
            <a:spLocks/>
          </p:cNvSpPr>
          <p:nvPr/>
        </p:nvSpPr>
        <p:spPr>
          <a:xfrm>
            <a:off x="6199246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2" name="Line 212"/>
          <p:cNvSpPr>
            <a:spLocks/>
          </p:cNvSpPr>
          <p:nvPr/>
        </p:nvSpPr>
        <p:spPr>
          <a:xfrm flipV="1">
            <a:off x="6265749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3" name="Line 213"/>
          <p:cNvSpPr>
            <a:spLocks/>
          </p:cNvSpPr>
          <p:nvPr/>
        </p:nvSpPr>
        <p:spPr>
          <a:xfrm flipV="1">
            <a:off x="6332252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4" name="Line 214"/>
          <p:cNvSpPr>
            <a:spLocks/>
          </p:cNvSpPr>
          <p:nvPr/>
        </p:nvSpPr>
        <p:spPr>
          <a:xfrm>
            <a:off x="6398755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5" name="Line 215"/>
          <p:cNvSpPr>
            <a:spLocks/>
          </p:cNvSpPr>
          <p:nvPr/>
        </p:nvSpPr>
        <p:spPr>
          <a:xfrm>
            <a:off x="6465258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Line 216"/>
          <p:cNvSpPr>
            <a:spLocks/>
          </p:cNvSpPr>
          <p:nvPr/>
        </p:nvSpPr>
        <p:spPr>
          <a:xfrm flipV="1">
            <a:off x="6531761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7" name="Line 217"/>
          <p:cNvSpPr>
            <a:spLocks/>
          </p:cNvSpPr>
          <p:nvPr/>
        </p:nvSpPr>
        <p:spPr>
          <a:xfrm flipV="1">
            <a:off x="6598264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8" name="Line 218"/>
          <p:cNvSpPr>
            <a:spLocks/>
          </p:cNvSpPr>
          <p:nvPr/>
        </p:nvSpPr>
        <p:spPr>
          <a:xfrm>
            <a:off x="6664766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9" name="Line 219"/>
          <p:cNvSpPr>
            <a:spLocks/>
          </p:cNvSpPr>
          <p:nvPr/>
        </p:nvSpPr>
        <p:spPr>
          <a:xfrm>
            <a:off x="6731269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0" name="Line 220"/>
          <p:cNvSpPr>
            <a:spLocks/>
          </p:cNvSpPr>
          <p:nvPr/>
        </p:nvSpPr>
        <p:spPr>
          <a:xfrm flipV="1">
            <a:off x="6797772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Line 221"/>
          <p:cNvSpPr>
            <a:spLocks/>
          </p:cNvSpPr>
          <p:nvPr/>
        </p:nvSpPr>
        <p:spPr>
          <a:xfrm flipV="1">
            <a:off x="6864275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2" name="Line 222"/>
          <p:cNvSpPr>
            <a:spLocks/>
          </p:cNvSpPr>
          <p:nvPr/>
        </p:nvSpPr>
        <p:spPr>
          <a:xfrm>
            <a:off x="6930778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3" name="Line 223"/>
          <p:cNvSpPr>
            <a:spLocks/>
          </p:cNvSpPr>
          <p:nvPr/>
        </p:nvSpPr>
        <p:spPr>
          <a:xfrm>
            <a:off x="6997281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4" name="Line 224"/>
          <p:cNvSpPr>
            <a:spLocks/>
          </p:cNvSpPr>
          <p:nvPr/>
        </p:nvSpPr>
        <p:spPr>
          <a:xfrm flipV="1">
            <a:off x="7063784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5" name="Line 225"/>
          <p:cNvSpPr>
            <a:spLocks/>
          </p:cNvSpPr>
          <p:nvPr/>
        </p:nvSpPr>
        <p:spPr>
          <a:xfrm flipV="1">
            <a:off x="7130287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6" name="Line 226"/>
          <p:cNvSpPr>
            <a:spLocks/>
          </p:cNvSpPr>
          <p:nvPr/>
        </p:nvSpPr>
        <p:spPr>
          <a:xfrm>
            <a:off x="7196790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7" name="Line 227"/>
          <p:cNvSpPr>
            <a:spLocks/>
          </p:cNvSpPr>
          <p:nvPr/>
        </p:nvSpPr>
        <p:spPr>
          <a:xfrm>
            <a:off x="7263293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8" name="Line 228"/>
          <p:cNvSpPr>
            <a:spLocks/>
          </p:cNvSpPr>
          <p:nvPr/>
        </p:nvSpPr>
        <p:spPr>
          <a:xfrm flipV="1">
            <a:off x="7329796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9" name="Line 229"/>
          <p:cNvSpPr>
            <a:spLocks/>
          </p:cNvSpPr>
          <p:nvPr/>
        </p:nvSpPr>
        <p:spPr>
          <a:xfrm flipV="1">
            <a:off x="7396299" y="5491387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0" name="Line 230"/>
          <p:cNvSpPr>
            <a:spLocks/>
          </p:cNvSpPr>
          <p:nvPr/>
        </p:nvSpPr>
        <p:spPr>
          <a:xfrm>
            <a:off x="5867870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1" name="Line 231"/>
          <p:cNvSpPr>
            <a:spLocks/>
          </p:cNvSpPr>
          <p:nvPr/>
        </p:nvSpPr>
        <p:spPr>
          <a:xfrm>
            <a:off x="5936651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2" name="Line 232"/>
          <p:cNvSpPr>
            <a:spLocks/>
          </p:cNvSpPr>
          <p:nvPr/>
        </p:nvSpPr>
        <p:spPr>
          <a:xfrm flipV="1">
            <a:off x="6005431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3" name="Line 233"/>
          <p:cNvSpPr>
            <a:spLocks/>
          </p:cNvSpPr>
          <p:nvPr/>
        </p:nvSpPr>
        <p:spPr>
          <a:xfrm flipV="1">
            <a:off x="6074211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4" name="Line 234"/>
          <p:cNvSpPr>
            <a:spLocks/>
          </p:cNvSpPr>
          <p:nvPr/>
        </p:nvSpPr>
        <p:spPr>
          <a:xfrm>
            <a:off x="6142992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5" name="Line 235"/>
          <p:cNvSpPr>
            <a:spLocks/>
          </p:cNvSpPr>
          <p:nvPr/>
        </p:nvSpPr>
        <p:spPr>
          <a:xfrm>
            <a:off x="6211772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6" name="Line 236"/>
          <p:cNvSpPr>
            <a:spLocks/>
          </p:cNvSpPr>
          <p:nvPr/>
        </p:nvSpPr>
        <p:spPr>
          <a:xfrm flipV="1">
            <a:off x="6280553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7" name="Line 237"/>
          <p:cNvSpPr>
            <a:spLocks/>
          </p:cNvSpPr>
          <p:nvPr/>
        </p:nvSpPr>
        <p:spPr>
          <a:xfrm flipV="1">
            <a:off x="6349333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8" name="Line 238"/>
          <p:cNvSpPr>
            <a:spLocks/>
          </p:cNvSpPr>
          <p:nvPr/>
        </p:nvSpPr>
        <p:spPr>
          <a:xfrm>
            <a:off x="6418113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9" name="Line 239"/>
          <p:cNvSpPr>
            <a:spLocks/>
          </p:cNvSpPr>
          <p:nvPr/>
        </p:nvSpPr>
        <p:spPr>
          <a:xfrm>
            <a:off x="6486894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0" name="Line 240"/>
          <p:cNvSpPr>
            <a:spLocks/>
          </p:cNvSpPr>
          <p:nvPr/>
        </p:nvSpPr>
        <p:spPr>
          <a:xfrm flipV="1">
            <a:off x="6555674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1" name="Line 241"/>
          <p:cNvSpPr>
            <a:spLocks/>
          </p:cNvSpPr>
          <p:nvPr/>
        </p:nvSpPr>
        <p:spPr>
          <a:xfrm flipV="1">
            <a:off x="6624455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2" name="Line 242"/>
          <p:cNvSpPr>
            <a:spLocks/>
          </p:cNvSpPr>
          <p:nvPr/>
        </p:nvSpPr>
        <p:spPr>
          <a:xfrm>
            <a:off x="6693235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3" name="Line 243"/>
          <p:cNvSpPr>
            <a:spLocks/>
          </p:cNvSpPr>
          <p:nvPr/>
        </p:nvSpPr>
        <p:spPr>
          <a:xfrm>
            <a:off x="6762016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4" name="Line 244"/>
          <p:cNvSpPr>
            <a:spLocks/>
          </p:cNvSpPr>
          <p:nvPr/>
        </p:nvSpPr>
        <p:spPr>
          <a:xfrm flipV="1">
            <a:off x="6830796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5" name="Line 245"/>
          <p:cNvSpPr>
            <a:spLocks/>
          </p:cNvSpPr>
          <p:nvPr/>
        </p:nvSpPr>
        <p:spPr>
          <a:xfrm flipV="1">
            <a:off x="6899576" y="5704763"/>
            <a:ext cx="0" cy="102209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8" name="Roundrect 248"/>
          <p:cNvSpPr>
            <a:spLocks/>
          </p:cNvSpPr>
          <p:nvPr/>
        </p:nvSpPr>
        <p:spPr>
          <a:xfrm>
            <a:off x="7886699" y="5041899"/>
            <a:ext cx="1219200" cy="73660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8016">
            <a:solidFill>
              <a:srgbClr val="16264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0" name="Roundrect 250"/>
          <p:cNvSpPr>
            <a:spLocks/>
          </p:cNvSpPr>
          <p:nvPr/>
        </p:nvSpPr>
        <p:spPr>
          <a:xfrm>
            <a:off x="9579567" y="4796776"/>
            <a:ext cx="2126622" cy="1054590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2" name="Line 252"/>
          <p:cNvSpPr>
            <a:spLocks/>
          </p:cNvSpPr>
          <p:nvPr/>
        </p:nvSpPr>
        <p:spPr>
          <a:xfrm>
            <a:off x="551245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3" name="Line 253"/>
          <p:cNvSpPr>
            <a:spLocks/>
          </p:cNvSpPr>
          <p:nvPr/>
        </p:nvSpPr>
        <p:spPr>
          <a:xfrm>
            <a:off x="62302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4" name="Line 254"/>
          <p:cNvSpPr>
            <a:spLocks/>
          </p:cNvSpPr>
          <p:nvPr/>
        </p:nvSpPr>
        <p:spPr>
          <a:xfrm flipV="1">
            <a:off x="694812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5" name="Line 255"/>
          <p:cNvSpPr>
            <a:spLocks/>
          </p:cNvSpPr>
          <p:nvPr/>
        </p:nvSpPr>
        <p:spPr>
          <a:xfrm flipV="1">
            <a:off x="76659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6" name="Line 256"/>
          <p:cNvSpPr>
            <a:spLocks/>
          </p:cNvSpPr>
          <p:nvPr/>
        </p:nvSpPr>
        <p:spPr>
          <a:xfrm>
            <a:off x="83837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7" name="Line 257"/>
          <p:cNvSpPr>
            <a:spLocks/>
          </p:cNvSpPr>
          <p:nvPr/>
        </p:nvSpPr>
        <p:spPr>
          <a:xfrm>
            <a:off x="910162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8" name="Line 258"/>
          <p:cNvSpPr>
            <a:spLocks/>
          </p:cNvSpPr>
          <p:nvPr/>
        </p:nvSpPr>
        <p:spPr>
          <a:xfrm flipV="1">
            <a:off x="98194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9" name="Line 259"/>
          <p:cNvSpPr>
            <a:spLocks/>
          </p:cNvSpPr>
          <p:nvPr/>
        </p:nvSpPr>
        <p:spPr>
          <a:xfrm flipV="1">
            <a:off x="105372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0" name="Line 260"/>
          <p:cNvSpPr>
            <a:spLocks/>
          </p:cNvSpPr>
          <p:nvPr/>
        </p:nvSpPr>
        <p:spPr>
          <a:xfrm>
            <a:off x="1125512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1" name="Line 261"/>
          <p:cNvSpPr>
            <a:spLocks/>
          </p:cNvSpPr>
          <p:nvPr/>
        </p:nvSpPr>
        <p:spPr>
          <a:xfrm>
            <a:off x="1197295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2" name="Line 262"/>
          <p:cNvSpPr>
            <a:spLocks/>
          </p:cNvSpPr>
          <p:nvPr/>
        </p:nvSpPr>
        <p:spPr>
          <a:xfrm flipV="1">
            <a:off x="126907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3" name="Line 263"/>
          <p:cNvSpPr>
            <a:spLocks/>
          </p:cNvSpPr>
          <p:nvPr/>
        </p:nvSpPr>
        <p:spPr>
          <a:xfrm flipV="1">
            <a:off x="1340862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4" name="Line 264"/>
          <p:cNvSpPr>
            <a:spLocks/>
          </p:cNvSpPr>
          <p:nvPr/>
        </p:nvSpPr>
        <p:spPr>
          <a:xfrm>
            <a:off x="1412645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5" name="Line 265"/>
          <p:cNvSpPr>
            <a:spLocks/>
          </p:cNvSpPr>
          <p:nvPr/>
        </p:nvSpPr>
        <p:spPr>
          <a:xfrm>
            <a:off x="148442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6" name="Line 266"/>
          <p:cNvSpPr>
            <a:spLocks/>
          </p:cNvSpPr>
          <p:nvPr/>
        </p:nvSpPr>
        <p:spPr>
          <a:xfrm flipV="1">
            <a:off x="1556212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7" name="Line 267"/>
          <p:cNvSpPr>
            <a:spLocks/>
          </p:cNvSpPr>
          <p:nvPr/>
        </p:nvSpPr>
        <p:spPr>
          <a:xfrm flipV="1">
            <a:off x="162799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8" name="Line 268"/>
          <p:cNvSpPr>
            <a:spLocks/>
          </p:cNvSpPr>
          <p:nvPr/>
        </p:nvSpPr>
        <p:spPr>
          <a:xfrm>
            <a:off x="169977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9" name="Line 269"/>
          <p:cNvSpPr>
            <a:spLocks/>
          </p:cNvSpPr>
          <p:nvPr/>
        </p:nvSpPr>
        <p:spPr>
          <a:xfrm>
            <a:off x="177156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0" name="Line 270"/>
          <p:cNvSpPr>
            <a:spLocks/>
          </p:cNvSpPr>
          <p:nvPr/>
        </p:nvSpPr>
        <p:spPr>
          <a:xfrm flipV="1">
            <a:off x="184334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1" name="Line 271"/>
          <p:cNvSpPr>
            <a:spLocks/>
          </p:cNvSpPr>
          <p:nvPr/>
        </p:nvSpPr>
        <p:spPr>
          <a:xfrm flipV="1">
            <a:off x="191512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2" name="Line 272"/>
          <p:cNvSpPr>
            <a:spLocks/>
          </p:cNvSpPr>
          <p:nvPr/>
        </p:nvSpPr>
        <p:spPr>
          <a:xfrm>
            <a:off x="201134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3" name="Line 273"/>
          <p:cNvSpPr>
            <a:spLocks/>
          </p:cNvSpPr>
          <p:nvPr/>
        </p:nvSpPr>
        <p:spPr>
          <a:xfrm>
            <a:off x="208312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4" name="Line 274"/>
          <p:cNvSpPr>
            <a:spLocks/>
          </p:cNvSpPr>
          <p:nvPr/>
        </p:nvSpPr>
        <p:spPr>
          <a:xfrm flipV="1">
            <a:off x="2154910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5" name="Line 275"/>
          <p:cNvSpPr>
            <a:spLocks/>
          </p:cNvSpPr>
          <p:nvPr/>
        </p:nvSpPr>
        <p:spPr>
          <a:xfrm flipV="1">
            <a:off x="222669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6" name="Line 276"/>
          <p:cNvSpPr>
            <a:spLocks/>
          </p:cNvSpPr>
          <p:nvPr/>
        </p:nvSpPr>
        <p:spPr>
          <a:xfrm>
            <a:off x="229847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7" name="Line 277"/>
          <p:cNvSpPr>
            <a:spLocks/>
          </p:cNvSpPr>
          <p:nvPr/>
        </p:nvSpPr>
        <p:spPr>
          <a:xfrm>
            <a:off x="2370260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8" name="Line 278"/>
          <p:cNvSpPr>
            <a:spLocks/>
          </p:cNvSpPr>
          <p:nvPr/>
        </p:nvSpPr>
        <p:spPr>
          <a:xfrm flipV="1">
            <a:off x="244204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9" name="Line 279"/>
          <p:cNvSpPr>
            <a:spLocks/>
          </p:cNvSpPr>
          <p:nvPr/>
        </p:nvSpPr>
        <p:spPr>
          <a:xfrm flipV="1">
            <a:off x="2513827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0" name="Line 280"/>
          <p:cNvSpPr>
            <a:spLocks/>
          </p:cNvSpPr>
          <p:nvPr/>
        </p:nvSpPr>
        <p:spPr>
          <a:xfrm>
            <a:off x="2585610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1" name="Line 281"/>
          <p:cNvSpPr>
            <a:spLocks/>
          </p:cNvSpPr>
          <p:nvPr/>
        </p:nvSpPr>
        <p:spPr>
          <a:xfrm>
            <a:off x="2657394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2" name="Line 282"/>
          <p:cNvSpPr>
            <a:spLocks/>
          </p:cNvSpPr>
          <p:nvPr/>
        </p:nvSpPr>
        <p:spPr>
          <a:xfrm flipV="1">
            <a:off x="272917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3" name="Line 283"/>
          <p:cNvSpPr>
            <a:spLocks/>
          </p:cNvSpPr>
          <p:nvPr/>
        </p:nvSpPr>
        <p:spPr>
          <a:xfrm flipV="1">
            <a:off x="2800959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4" name="Line 284"/>
          <p:cNvSpPr>
            <a:spLocks/>
          </p:cNvSpPr>
          <p:nvPr/>
        </p:nvSpPr>
        <p:spPr>
          <a:xfrm>
            <a:off x="287274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5" name="Line 285"/>
          <p:cNvSpPr>
            <a:spLocks/>
          </p:cNvSpPr>
          <p:nvPr/>
        </p:nvSpPr>
        <p:spPr>
          <a:xfrm>
            <a:off x="2944526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6" name="Line 286"/>
          <p:cNvSpPr>
            <a:spLocks/>
          </p:cNvSpPr>
          <p:nvPr/>
        </p:nvSpPr>
        <p:spPr>
          <a:xfrm flipV="1">
            <a:off x="3016310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7" name="Line 287"/>
          <p:cNvSpPr>
            <a:spLocks/>
          </p:cNvSpPr>
          <p:nvPr/>
        </p:nvSpPr>
        <p:spPr>
          <a:xfrm flipV="1">
            <a:off x="308809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8" name="Line 288"/>
          <p:cNvSpPr>
            <a:spLocks/>
          </p:cNvSpPr>
          <p:nvPr/>
        </p:nvSpPr>
        <p:spPr>
          <a:xfrm>
            <a:off x="3159877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9" name="Line 289"/>
          <p:cNvSpPr>
            <a:spLocks/>
          </p:cNvSpPr>
          <p:nvPr/>
        </p:nvSpPr>
        <p:spPr>
          <a:xfrm>
            <a:off x="3231660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0" name="Line 290"/>
          <p:cNvSpPr>
            <a:spLocks/>
          </p:cNvSpPr>
          <p:nvPr/>
        </p:nvSpPr>
        <p:spPr>
          <a:xfrm flipV="1">
            <a:off x="3303443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1" name="Line 291"/>
          <p:cNvSpPr>
            <a:spLocks/>
          </p:cNvSpPr>
          <p:nvPr/>
        </p:nvSpPr>
        <p:spPr>
          <a:xfrm flipV="1">
            <a:off x="3375227" y="9213941"/>
            <a:ext cx="0" cy="144295"/>
          </a:xfrm>
          <a:prstGeom prst="line">
            <a:avLst/>
          </a:prstGeom>
          <a:noFill/>
          <a:ln w="8016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4" name="Path 294"/>
          <p:cNvSpPr>
            <a:spLocks/>
          </p:cNvSpPr>
          <p:nvPr/>
        </p:nvSpPr>
        <p:spPr>
          <a:xfrm>
            <a:off x="549259" y="4024132"/>
            <a:ext cx="4263678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450" y="0"/>
                  <a:pt x="900" y="0"/>
                  <a:pt x="1350" y="10800"/>
                </a:cubicBezTo>
                <a:cubicBezTo>
                  <a:pt x="1800" y="21600"/>
                  <a:pt x="2250" y="21600"/>
                  <a:pt x="2700" y="10800"/>
                </a:cubicBezTo>
                <a:cubicBezTo>
                  <a:pt x="3150" y="0"/>
                  <a:pt x="3600" y="0"/>
                  <a:pt x="4050" y="10800"/>
                </a:cubicBezTo>
                <a:cubicBezTo>
                  <a:pt x="4500" y="21600"/>
                  <a:pt x="4950" y="21600"/>
                  <a:pt x="5400" y="10800"/>
                </a:cubicBezTo>
                <a:cubicBezTo>
                  <a:pt x="5850" y="0"/>
                  <a:pt x="6300" y="0"/>
                  <a:pt x="6750" y="10800"/>
                </a:cubicBezTo>
                <a:cubicBezTo>
                  <a:pt x="7200" y="21600"/>
                  <a:pt x="7650" y="21600"/>
                  <a:pt x="8100" y="10800"/>
                </a:cubicBezTo>
                <a:cubicBezTo>
                  <a:pt x="8550" y="0"/>
                  <a:pt x="9000" y="0"/>
                  <a:pt x="9450" y="10800"/>
                </a:cubicBezTo>
                <a:cubicBezTo>
                  <a:pt x="9900" y="21600"/>
                  <a:pt x="10350" y="21600"/>
                  <a:pt x="10800" y="10800"/>
                </a:cubicBezTo>
                <a:cubicBezTo>
                  <a:pt x="11250" y="0"/>
                  <a:pt x="11700" y="0"/>
                  <a:pt x="12150" y="10800"/>
                </a:cubicBezTo>
                <a:cubicBezTo>
                  <a:pt x="12600" y="21600"/>
                  <a:pt x="13050" y="21600"/>
                  <a:pt x="13500" y="10800"/>
                </a:cubicBezTo>
                <a:cubicBezTo>
                  <a:pt x="13950" y="0"/>
                  <a:pt x="14400" y="0"/>
                  <a:pt x="14850" y="10800"/>
                </a:cubicBezTo>
                <a:cubicBezTo>
                  <a:pt x="15300" y="21600"/>
                  <a:pt x="15750" y="21600"/>
                  <a:pt x="16200" y="10800"/>
                </a:cubicBezTo>
                <a:cubicBezTo>
                  <a:pt x="16650" y="0"/>
                  <a:pt x="17100" y="0"/>
                  <a:pt x="17550" y="10800"/>
                </a:cubicBezTo>
                <a:cubicBezTo>
                  <a:pt x="18000" y="21600"/>
                  <a:pt x="18450" y="21600"/>
                  <a:pt x="18900" y="10800"/>
                </a:cubicBezTo>
                <a:cubicBezTo>
                  <a:pt x="19350" y="0"/>
                  <a:pt x="19800" y="0"/>
                  <a:pt x="20250" y="10800"/>
                </a:cubicBezTo>
                <a:cubicBezTo>
                  <a:pt x="20700" y="21600"/>
                  <a:pt x="2115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5" name="Path 295"/>
          <p:cNvSpPr>
            <a:spLocks/>
          </p:cNvSpPr>
          <p:nvPr/>
        </p:nvSpPr>
        <p:spPr>
          <a:xfrm>
            <a:off x="549259" y="4024132"/>
            <a:ext cx="4263678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450" y="21600"/>
                  <a:pt x="900" y="21600"/>
                  <a:pt x="1350" y="10800"/>
                </a:cubicBezTo>
                <a:cubicBezTo>
                  <a:pt x="1800" y="0"/>
                  <a:pt x="2250" y="0"/>
                  <a:pt x="2700" y="10800"/>
                </a:cubicBezTo>
                <a:cubicBezTo>
                  <a:pt x="3150" y="21600"/>
                  <a:pt x="3600" y="21600"/>
                  <a:pt x="4050" y="10800"/>
                </a:cubicBezTo>
                <a:cubicBezTo>
                  <a:pt x="4500" y="0"/>
                  <a:pt x="4950" y="0"/>
                  <a:pt x="5400" y="10800"/>
                </a:cubicBezTo>
                <a:cubicBezTo>
                  <a:pt x="5850" y="21600"/>
                  <a:pt x="6300" y="21600"/>
                  <a:pt x="6750" y="10800"/>
                </a:cubicBezTo>
                <a:cubicBezTo>
                  <a:pt x="7200" y="0"/>
                  <a:pt x="7650" y="0"/>
                  <a:pt x="8100" y="10800"/>
                </a:cubicBezTo>
                <a:cubicBezTo>
                  <a:pt x="8550" y="21600"/>
                  <a:pt x="9000" y="21600"/>
                  <a:pt x="9450" y="10800"/>
                </a:cubicBezTo>
                <a:cubicBezTo>
                  <a:pt x="9900" y="0"/>
                  <a:pt x="10350" y="0"/>
                  <a:pt x="10800" y="10800"/>
                </a:cubicBezTo>
                <a:cubicBezTo>
                  <a:pt x="11250" y="21600"/>
                  <a:pt x="11700" y="21600"/>
                  <a:pt x="12150" y="10800"/>
                </a:cubicBezTo>
                <a:cubicBezTo>
                  <a:pt x="12600" y="0"/>
                  <a:pt x="13050" y="0"/>
                  <a:pt x="13500" y="10800"/>
                </a:cubicBezTo>
                <a:cubicBezTo>
                  <a:pt x="13950" y="21600"/>
                  <a:pt x="14400" y="21600"/>
                  <a:pt x="14850" y="10800"/>
                </a:cubicBezTo>
                <a:cubicBezTo>
                  <a:pt x="15300" y="0"/>
                  <a:pt x="15750" y="0"/>
                  <a:pt x="16200" y="10800"/>
                </a:cubicBezTo>
                <a:cubicBezTo>
                  <a:pt x="16650" y="21600"/>
                  <a:pt x="17100" y="21600"/>
                  <a:pt x="17550" y="10800"/>
                </a:cubicBezTo>
                <a:cubicBezTo>
                  <a:pt x="18000" y="0"/>
                  <a:pt x="18450" y="0"/>
                  <a:pt x="18900" y="10800"/>
                </a:cubicBezTo>
                <a:cubicBezTo>
                  <a:pt x="19350" y="21600"/>
                  <a:pt x="19800" y="21600"/>
                  <a:pt x="20250" y="10800"/>
                </a:cubicBezTo>
                <a:cubicBezTo>
                  <a:pt x="20700" y="0"/>
                  <a:pt x="2115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6" name="Path 296"/>
          <p:cNvSpPr>
            <a:spLocks/>
          </p:cNvSpPr>
          <p:nvPr/>
        </p:nvSpPr>
        <p:spPr>
          <a:xfrm>
            <a:off x="547810" y="4755050"/>
            <a:ext cx="2027250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7" name="Path 297"/>
          <p:cNvSpPr>
            <a:spLocks/>
          </p:cNvSpPr>
          <p:nvPr/>
        </p:nvSpPr>
        <p:spPr>
          <a:xfrm>
            <a:off x="547810" y="4755050"/>
            <a:ext cx="2027250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8" name="Path 298"/>
          <p:cNvSpPr>
            <a:spLocks/>
          </p:cNvSpPr>
          <p:nvPr/>
        </p:nvSpPr>
        <p:spPr>
          <a:xfrm>
            <a:off x="2731349" y="4755050"/>
            <a:ext cx="2005452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9" name="Path 299"/>
          <p:cNvSpPr>
            <a:spLocks/>
          </p:cNvSpPr>
          <p:nvPr/>
        </p:nvSpPr>
        <p:spPr>
          <a:xfrm>
            <a:off x="2731349" y="4755050"/>
            <a:ext cx="2005452" cy="252650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0" name="Path 300"/>
          <p:cNvSpPr>
            <a:spLocks/>
          </p:cNvSpPr>
          <p:nvPr/>
        </p:nvSpPr>
        <p:spPr>
          <a:xfrm>
            <a:off x="5855344" y="1469502"/>
            <a:ext cx="838119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1200" y="0"/>
                  <a:pt x="2400" y="0"/>
                  <a:pt x="3600" y="10800"/>
                </a:cubicBezTo>
                <a:cubicBezTo>
                  <a:pt x="4800" y="21600"/>
                  <a:pt x="6000" y="21600"/>
                  <a:pt x="7200" y="10800"/>
                </a:cubicBezTo>
                <a:cubicBezTo>
                  <a:pt x="8400" y="0"/>
                  <a:pt x="9600" y="0"/>
                  <a:pt x="10800" y="10800"/>
                </a:cubicBezTo>
                <a:cubicBezTo>
                  <a:pt x="12000" y="21600"/>
                  <a:pt x="13200" y="21600"/>
                  <a:pt x="14400" y="10800"/>
                </a:cubicBezTo>
                <a:cubicBezTo>
                  <a:pt x="15600" y="0"/>
                  <a:pt x="16800" y="0"/>
                  <a:pt x="18000" y="10800"/>
                </a:cubicBezTo>
                <a:cubicBezTo>
                  <a:pt x="19200" y="21600"/>
                  <a:pt x="204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1" name="Path 301"/>
          <p:cNvSpPr>
            <a:spLocks/>
          </p:cNvSpPr>
          <p:nvPr/>
        </p:nvSpPr>
        <p:spPr>
          <a:xfrm>
            <a:off x="5855344" y="1469502"/>
            <a:ext cx="838119" cy="26236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1200" y="21600"/>
                  <a:pt x="2400" y="21600"/>
                  <a:pt x="3600" y="10800"/>
                </a:cubicBezTo>
                <a:cubicBezTo>
                  <a:pt x="4800" y="0"/>
                  <a:pt x="6000" y="0"/>
                  <a:pt x="7200" y="10800"/>
                </a:cubicBezTo>
                <a:cubicBezTo>
                  <a:pt x="8400" y="21600"/>
                  <a:pt x="9600" y="21600"/>
                  <a:pt x="10800" y="10800"/>
                </a:cubicBezTo>
                <a:cubicBezTo>
                  <a:pt x="12000" y="0"/>
                  <a:pt x="13200" y="0"/>
                  <a:pt x="14400" y="10800"/>
                </a:cubicBezTo>
                <a:cubicBezTo>
                  <a:pt x="15600" y="21600"/>
                  <a:pt x="16800" y="21600"/>
                  <a:pt x="18000" y="10800"/>
                </a:cubicBezTo>
                <a:cubicBezTo>
                  <a:pt x="19200" y="0"/>
                  <a:pt x="204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4" name="Path 304"/>
          <p:cNvSpPr>
            <a:spLocks/>
          </p:cNvSpPr>
          <p:nvPr/>
        </p:nvSpPr>
        <p:spPr>
          <a:xfrm>
            <a:off x="5833480" y="4833544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0"/>
                  <a:pt x="1200" y="0"/>
                  <a:pt x="1800" y="10800"/>
                </a:cubicBezTo>
                <a:cubicBezTo>
                  <a:pt x="2400" y="21600"/>
                  <a:pt x="3000" y="21600"/>
                  <a:pt x="3600" y="10800"/>
                </a:cubicBezTo>
                <a:cubicBezTo>
                  <a:pt x="4200" y="0"/>
                  <a:pt x="4800" y="0"/>
                  <a:pt x="5400" y="10800"/>
                </a:cubicBezTo>
                <a:cubicBezTo>
                  <a:pt x="6000" y="21600"/>
                  <a:pt x="6600" y="21600"/>
                  <a:pt x="7200" y="10800"/>
                </a:cubicBezTo>
                <a:cubicBezTo>
                  <a:pt x="7800" y="0"/>
                  <a:pt x="8400" y="0"/>
                  <a:pt x="9000" y="10800"/>
                </a:cubicBezTo>
                <a:cubicBezTo>
                  <a:pt x="9600" y="21600"/>
                  <a:pt x="10200" y="21600"/>
                  <a:pt x="10800" y="10800"/>
                </a:cubicBezTo>
                <a:cubicBezTo>
                  <a:pt x="11400" y="0"/>
                  <a:pt x="12000" y="0"/>
                  <a:pt x="12600" y="10800"/>
                </a:cubicBezTo>
                <a:cubicBezTo>
                  <a:pt x="13200" y="21600"/>
                  <a:pt x="13800" y="21600"/>
                  <a:pt x="14400" y="10800"/>
                </a:cubicBezTo>
                <a:cubicBezTo>
                  <a:pt x="15000" y="0"/>
                  <a:pt x="15600" y="0"/>
                  <a:pt x="16200" y="10800"/>
                </a:cubicBezTo>
                <a:cubicBezTo>
                  <a:pt x="16800" y="21600"/>
                  <a:pt x="17400" y="21600"/>
                  <a:pt x="18000" y="10800"/>
                </a:cubicBezTo>
                <a:cubicBezTo>
                  <a:pt x="18600" y="0"/>
                  <a:pt x="19200" y="0"/>
                  <a:pt x="19800" y="10800"/>
                </a:cubicBezTo>
                <a:cubicBezTo>
                  <a:pt x="20400" y="21600"/>
                  <a:pt x="21000" y="2160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5" name="Path 305"/>
          <p:cNvSpPr>
            <a:spLocks/>
          </p:cNvSpPr>
          <p:nvPr/>
        </p:nvSpPr>
        <p:spPr>
          <a:xfrm>
            <a:off x="5833480" y="4833544"/>
            <a:ext cx="1596070" cy="204064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21600"/>
                  <a:pt x="1200" y="21600"/>
                  <a:pt x="1800" y="10800"/>
                </a:cubicBezTo>
                <a:cubicBezTo>
                  <a:pt x="2400" y="0"/>
                  <a:pt x="3000" y="0"/>
                  <a:pt x="3600" y="10800"/>
                </a:cubicBezTo>
                <a:cubicBezTo>
                  <a:pt x="4200" y="21600"/>
                  <a:pt x="4800" y="21600"/>
                  <a:pt x="5400" y="10800"/>
                </a:cubicBezTo>
                <a:cubicBezTo>
                  <a:pt x="6000" y="0"/>
                  <a:pt x="6600" y="0"/>
                  <a:pt x="7200" y="10800"/>
                </a:cubicBezTo>
                <a:cubicBezTo>
                  <a:pt x="7800" y="21600"/>
                  <a:pt x="8400" y="21600"/>
                  <a:pt x="9000" y="10800"/>
                </a:cubicBezTo>
                <a:cubicBezTo>
                  <a:pt x="9600" y="0"/>
                  <a:pt x="10200" y="0"/>
                  <a:pt x="10800" y="10800"/>
                </a:cubicBezTo>
                <a:cubicBezTo>
                  <a:pt x="11400" y="21600"/>
                  <a:pt x="12000" y="21600"/>
                  <a:pt x="12600" y="10800"/>
                </a:cubicBezTo>
                <a:cubicBezTo>
                  <a:pt x="13200" y="0"/>
                  <a:pt x="13800" y="0"/>
                  <a:pt x="14400" y="10800"/>
                </a:cubicBezTo>
                <a:cubicBezTo>
                  <a:pt x="15000" y="21600"/>
                  <a:pt x="15600" y="21600"/>
                  <a:pt x="16200" y="10800"/>
                </a:cubicBezTo>
                <a:cubicBezTo>
                  <a:pt x="16800" y="0"/>
                  <a:pt x="17400" y="0"/>
                  <a:pt x="18000" y="10800"/>
                </a:cubicBezTo>
                <a:cubicBezTo>
                  <a:pt x="18600" y="21600"/>
                  <a:pt x="19200" y="21600"/>
                  <a:pt x="19800" y="10800"/>
                </a:cubicBezTo>
                <a:cubicBezTo>
                  <a:pt x="20400" y="0"/>
                  <a:pt x="21000" y="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6" name="Path 306"/>
          <p:cNvSpPr>
            <a:spLocks/>
          </p:cNvSpPr>
          <p:nvPr/>
        </p:nvSpPr>
        <p:spPr>
          <a:xfrm>
            <a:off x="5833480" y="5446130"/>
            <a:ext cx="1596070" cy="1927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0"/>
                  <a:pt x="1200" y="0"/>
                  <a:pt x="1800" y="10800"/>
                </a:cubicBezTo>
                <a:cubicBezTo>
                  <a:pt x="2400" y="21600"/>
                  <a:pt x="3000" y="21600"/>
                  <a:pt x="3600" y="10800"/>
                </a:cubicBezTo>
                <a:cubicBezTo>
                  <a:pt x="4200" y="0"/>
                  <a:pt x="4800" y="0"/>
                  <a:pt x="5400" y="10800"/>
                </a:cubicBezTo>
                <a:cubicBezTo>
                  <a:pt x="6000" y="21600"/>
                  <a:pt x="6600" y="21600"/>
                  <a:pt x="7200" y="10800"/>
                </a:cubicBezTo>
                <a:cubicBezTo>
                  <a:pt x="7800" y="0"/>
                  <a:pt x="8400" y="0"/>
                  <a:pt x="9000" y="10800"/>
                </a:cubicBezTo>
                <a:cubicBezTo>
                  <a:pt x="9600" y="21600"/>
                  <a:pt x="10200" y="21600"/>
                  <a:pt x="10800" y="10800"/>
                </a:cubicBezTo>
                <a:cubicBezTo>
                  <a:pt x="11400" y="0"/>
                  <a:pt x="12000" y="0"/>
                  <a:pt x="12600" y="10800"/>
                </a:cubicBezTo>
                <a:cubicBezTo>
                  <a:pt x="13200" y="21600"/>
                  <a:pt x="13800" y="21600"/>
                  <a:pt x="14400" y="10800"/>
                </a:cubicBezTo>
                <a:cubicBezTo>
                  <a:pt x="15000" y="0"/>
                  <a:pt x="15600" y="0"/>
                  <a:pt x="16200" y="10800"/>
                </a:cubicBezTo>
                <a:cubicBezTo>
                  <a:pt x="16800" y="21600"/>
                  <a:pt x="17400" y="21600"/>
                  <a:pt x="18000" y="10800"/>
                </a:cubicBezTo>
                <a:cubicBezTo>
                  <a:pt x="18600" y="0"/>
                  <a:pt x="19200" y="0"/>
                  <a:pt x="19800" y="10800"/>
                </a:cubicBezTo>
                <a:cubicBezTo>
                  <a:pt x="20400" y="21600"/>
                  <a:pt x="210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7" name="Path 307"/>
          <p:cNvSpPr>
            <a:spLocks/>
          </p:cNvSpPr>
          <p:nvPr/>
        </p:nvSpPr>
        <p:spPr>
          <a:xfrm>
            <a:off x="5833480" y="5446130"/>
            <a:ext cx="1596070" cy="1927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600" y="21600"/>
                  <a:pt x="1200" y="21600"/>
                  <a:pt x="1800" y="10800"/>
                </a:cubicBezTo>
                <a:cubicBezTo>
                  <a:pt x="2400" y="0"/>
                  <a:pt x="3000" y="0"/>
                  <a:pt x="3600" y="10800"/>
                </a:cubicBezTo>
                <a:cubicBezTo>
                  <a:pt x="4200" y="21600"/>
                  <a:pt x="4800" y="21600"/>
                  <a:pt x="5400" y="10800"/>
                </a:cubicBezTo>
                <a:cubicBezTo>
                  <a:pt x="6000" y="0"/>
                  <a:pt x="6600" y="0"/>
                  <a:pt x="7200" y="10800"/>
                </a:cubicBezTo>
                <a:cubicBezTo>
                  <a:pt x="7800" y="21600"/>
                  <a:pt x="8400" y="21600"/>
                  <a:pt x="9000" y="10800"/>
                </a:cubicBezTo>
                <a:cubicBezTo>
                  <a:pt x="9600" y="0"/>
                  <a:pt x="10200" y="0"/>
                  <a:pt x="10800" y="10800"/>
                </a:cubicBezTo>
                <a:cubicBezTo>
                  <a:pt x="11400" y="21600"/>
                  <a:pt x="12000" y="21600"/>
                  <a:pt x="12600" y="10800"/>
                </a:cubicBezTo>
                <a:cubicBezTo>
                  <a:pt x="13200" y="0"/>
                  <a:pt x="13800" y="0"/>
                  <a:pt x="14400" y="10800"/>
                </a:cubicBezTo>
                <a:cubicBezTo>
                  <a:pt x="15000" y="21600"/>
                  <a:pt x="15600" y="21600"/>
                  <a:pt x="16200" y="10800"/>
                </a:cubicBezTo>
                <a:cubicBezTo>
                  <a:pt x="16800" y="0"/>
                  <a:pt x="17400" y="0"/>
                  <a:pt x="18000" y="10800"/>
                </a:cubicBezTo>
                <a:cubicBezTo>
                  <a:pt x="18600" y="21600"/>
                  <a:pt x="19200" y="21600"/>
                  <a:pt x="19800" y="10800"/>
                </a:cubicBezTo>
                <a:cubicBezTo>
                  <a:pt x="20400" y="0"/>
                  <a:pt x="210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8" name="Path 308"/>
          <p:cNvSpPr>
            <a:spLocks/>
          </p:cNvSpPr>
          <p:nvPr/>
        </p:nvSpPr>
        <p:spPr>
          <a:xfrm>
            <a:off x="5833480" y="5659506"/>
            <a:ext cx="1100487" cy="1927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9" name="Path 309"/>
          <p:cNvSpPr>
            <a:spLocks/>
          </p:cNvSpPr>
          <p:nvPr/>
        </p:nvSpPr>
        <p:spPr>
          <a:xfrm>
            <a:off x="5833480" y="5659506"/>
            <a:ext cx="1100487" cy="1927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0" name="Path 310"/>
          <p:cNvSpPr>
            <a:spLocks/>
          </p:cNvSpPr>
          <p:nvPr/>
        </p:nvSpPr>
        <p:spPr>
          <a:xfrm>
            <a:off x="515354" y="9150046"/>
            <a:ext cx="1435666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0"/>
                  <a:pt x="1440" y="0"/>
                  <a:pt x="2160" y="10800"/>
                </a:cubicBezTo>
                <a:cubicBezTo>
                  <a:pt x="2880" y="21600"/>
                  <a:pt x="3600" y="21600"/>
                  <a:pt x="4320" y="10800"/>
                </a:cubicBezTo>
                <a:cubicBezTo>
                  <a:pt x="5040" y="0"/>
                  <a:pt x="5760" y="0"/>
                  <a:pt x="6480" y="10800"/>
                </a:cubicBezTo>
                <a:cubicBezTo>
                  <a:pt x="7200" y="21600"/>
                  <a:pt x="7920" y="21600"/>
                  <a:pt x="8640" y="10800"/>
                </a:cubicBezTo>
                <a:cubicBezTo>
                  <a:pt x="9360" y="0"/>
                  <a:pt x="10080" y="0"/>
                  <a:pt x="10800" y="10800"/>
                </a:cubicBezTo>
                <a:cubicBezTo>
                  <a:pt x="11520" y="21600"/>
                  <a:pt x="12240" y="21600"/>
                  <a:pt x="12960" y="10800"/>
                </a:cubicBezTo>
                <a:cubicBezTo>
                  <a:pt x="13680" y="0"/>
                  <a:pt x="14400" y="0"/>
                  <a:pt x="15120" y="10800"/>
                </a:cubicBezTo>
                <a:cubicBezTo>
                  <a:pt x="15840" y="21600"/>
                  <a:pt x="16560" y="21600"/>
                  <a:pt x="17280" y="10800"/>
                </a:cubicBezTo>
                <a:cubicBezTo>
                  <a:pt x="18000" y="0"/>
                  <a:pt x="18720" y="0"/>
                  <a:pt x="19440" y="10800"/>
                </a:cubicBezTo>
                <a:cubicBezTo>
                  <a:pt x="20160" y="21600"/>
                  <a:pt x="20880" y="21600"/>
                  <a:pt x="21600" y="10800"/>
                </a:cubicBezTo>
              </a:path>
            </a:pathLst>
          </a:custGeom>
          <a:noFill/>
          <a:ln w="25507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1" name="Path 311"/>
          <p:cNvSpPr>
            <a:spLocks/>
          </p:cNvSpPr>
          <p:nvPr/>
        </p:nvSpPr>
        <p:spPr>
          <a:xfrm>
            <a:off x="515354" y="9150046"/>
            <a:ext cx="1435666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21600"/>
                  <a:pt x="1440" y="21600"/>
                  <a:pt x="2160" y="10800"/>
                </a:cubicBezTo>
                <a:cubicBezTo>
                  <a:pt x="2880" y="0"/>
                  <a:pt x="3600" y="0"/>
                  <a:pt x="4320" y="10800"/>
                </a:cubicBezTo>
                <a:cubicBezTo>
                  <a:pt x="5040" y="21600"/>
                  <a:pt x="5760" y="21600"/>
                  <a:pt x="6480" y="10800"/>
                </a:cubicBezTo>
                <a:cubicBezTo>
                  <a:pt x="7200" y="0"/>
                  <a:pt x="7920" y="0"/>
                  <a:pt x="8640" y="10800"/>
                </a:cubicBezTo>
                <a:cubicBezTo>
                  <a:pt x="9360" y="21600"/>
                  <a:pt x="10080" y="21600"/>
                  <a:pt x="10800" y="10800"/>
                </a:cubicBezTo>
                <a:cubicBezTo>
                  <a:pt x="11520" y="0"/>
                  <a:pt x="12240" y="0"/>
                  <a:pt x="12960" y="10800"/>
                </a:cubicBezTo>
                <a:cubicBezTo>
                  <a:pt x="13680" y="21600"/>
                  <a:pt x="14400" y="21600"/>
                  <a:pt x="15120" y="10800"/>
                </a:cubicBezTo>
                <a:cubicBezTo>
                  <a:pt x="15840" y="0"/>
                  <a:pt x="16560" y="0"/>
                  <a:pt x="17280" y="10800"/>
                </a:cubicBezTo>
                <a:cubicBezTo>
                  <a:pt x="18000" y="21600"/>
                  <a:pt x="18720" y="21600"/>
                  <a:pt x="19440" y="10800"/>
                </a:cubicBezTo>
                <a:cubicBezTo>
                  <a:pt x="20160" y="0"/>
                  <a:pt x="20880" y="0"/>
                  <a:pt x="21600" y="10800"/>
                </a:cubicBezTo>
              </a:path>
            </a:pathLst>
          </a:custGeom>
          <a:noFill/>
          <a:ln w="25507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2" name="Path 312"/>
          <p:cNvSpPr>
            <a:spLocks/>
          </p:cNvSpPr>
          <p:nvPr/>
        </p:nvSpPr>
        <p:spPr>
          <a:xfrm>
            <a:off x="1975451" y="9150046"/>
            <a:ext cx="1435666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0"/>
                  <a:pt x="1440" y="0"/>
                  <a:pt x="2160" y="10800"/>
                </a:cubicBezTo>
                <a:cubicBezTo>
                  <a:pt x="2880" y="21600"/>
                  <a:pt x="3600" y="21600"/>
                  <a:pt x="4320" y="10800"/>
                </a:cubicBezTo>
                <a:cubicBezTo>
                  <a:pt x="5040" y="0"/>
                  <a:pt x="5760" y="0"/>
                  <a:pt x="6480" y="10800"/>
                </a:cubicBezTo>
                <a:cubicBezTo>
                  <a:pt x="7200" y="21600"/>
                  <a:pt x="7920" y="21600"/>
                  <a:pt x="8640" y="10800"/>
                </a:cubicBezTo>
                <a:cubicBezTo>
                  <a:pt x="9360" y="0"/>
                  <a:pt x="10080" y="0"/>
                  <a:pt x="10800" y="10800"/>
                </a:cubicBezTo>
                <a:cubicBezTo>
                  <a:pt x="11520" y="21600"/>
                  <a:pt x="12240" y="21600"/>
                  <a:pt x="12960" y="10800"/>
                </a:cubicBezTo>
                <a:cubicBezTo>
                  <a:pt x="13680" y="0"/>
                  <a:pt x="14400" y="0"/>
                  <a:pt x="15120" y="10800"/>
                </a:cubicBezTo>
                <a:cubicBezTo>
                  <a:pt x="15840" y="21600"/>
                  <a:pt x="16560" y="21600"/>
                  <a:pt x="17280" y="10800"/>
                </a:cubicBezTo>
                <a:cubicBezTo>
                  <a:pt x="18000" y="0"/>
                  <a:pt x="18720" y="0"/>
                  <a:pt x="19440" y="10800"/>
                </a:cubicBezTo>
                <a:cubicBezTo>
                  <a:pt x="20160" y="21600"/>
                  <a:pt x="20880" y="21600"/>
                  <a:pt x="21600" y="10800"/>
                </a:cubicBezTo>
              </a:path>
            </a:pathLst>
          </a:custGeom>
          <a:noFill/>
          <a:ln w="25507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3" name="Path 313"/>
          <p:cNvSpPr>
            <a:spLocks/>
          </p:cNvSpPr>
          <p:nvPr/>
        </p:nvSpPr>
        <p:spPr>
          <a:xfrm>
            <a:off x="1975451" y="9150046"/>
            <a:ext cx="1435666" cy="272085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720" y="21600"/>
                  <a:pt x="1440" y="21600"/>
                  <a:pt x="2160" y="10800"/>
                </a:cubicBezTo>
                <a:cubicBezTo>
                  <a:pt x="2880" y="0"/>
                  <a:pt x="3600" y="0"/>
                  <a:pt x="4320" y="10800"/>
                </a:cubicBezTo>
                <a:cubicBezTo>
                  <a:pt x="5040" y="21600"/>
                  <a:pt x="5760" y="21600"/>
                  <a:pt x="6480" y="10800"/>
                </a:cubicBezTo>
                <a:cubicBezTo>
                  <a:pt x="7200" y="0"/>
                  <a:pt x="7920" y="0"/>
                  <a:pt x="8640" y="10800"/>
                </a:cubicBezTo>
                <a:cubicBezTo>
                  <a:pt x="9360" y="21600"/>
                  <a:pt x="10080" y="21600"/>
                  <a:pt x="10800" y="10800"/>
                </a:cubicBezTo>
                <a:cubicBezTo>
                  <a:pt x="11520" y="0"/>
                  <a:pt x="12240" y="0"/>
                  <a:pt x="12960" y="10800"/>
                </a:cubicBezTo>
                <a:cubicBezTo>
                  <a:pt x="13680" y="21600"/>
                  <a:pt x="14400" y="21600"/>
                  <a:pt x="15120" y="10800"/>
                </a:cubicBezTo>
                <a:cubicBezTo>
                  <a:pt x="15840" y="0"/>
                  <a:pt x="16560" y="0"/>
                  <a:pt x="17280" y="10800"/>
                </a:cubicBezTo>
                <a:cubicBezTo>
                  <a:pt x="18000" y="21600"/>
                  <a:pt x="18720" y="21600"/>
                  <a:pt x="19440" y="10800"/>
                </a:cubicBezTo>
                <a:cubicBezTo>
                  <a:pt x="20160" y="0"/>
                  <a:pt x="20880" y="0"/>
                  <a:pt x="21600" y="10800"/>
                </a:cubicBezTo>
              </a:path>
            </a:pathLst>
          </a:custGeom>
          <a:noFill/>
          <a:ln w="25507">
            <a:solidFill>
              <a:srgbClr val="64646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4" name="Roundrect 314"/>
          <p:cNvSpPr>
            <a:spLocks/>
          </p:cNvSpPr>
          <p:nvPr/>
        </p:nvSpPr>
        <p:spPr>
          <a:xfrm>
            <a:off x="3707743" y="6069980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5" name="Roundrect 315"/>
          <p:cNvSpPr>
            <a:spLocks/>
          </p:cNvSpPr>
          <p:nvPr/>
        </p:nvSpPr>
        <p:spPr>
          <a:xfrm>
            <a:off x="3933892" y="6069980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6" name="Roundrect 316"/>
          <p:cNvSpPr>
            <a:spLocks/>
          </p:cNvSpPr>
          <p:nvPr/>
        </p:nvSpPr>
        <p:spPr>
          <a:xfrm>
            <a:off x="4160041" y="6069980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7" name="Roundrect 317"/>
          <p:cNvSpPr>
            <a:spLocks/>
          </p:cNvSpPr>
          <p:nvPr/>
        </p:nvSpPr>
        <p:spPr>
          <a:xfrm>
            <a:off x="3707743" y="6272304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8" name="Roundrect 318"/>
          <p:cNvSpPr>
            <a:spLocks/>
          </p:cNvSpPr>
          <p:nvPr/>
        </p:nvSpPr>
        <p:spPr>
          <a:xfrm>
            <a:off x="3933892" y="6272304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9" name="Roundrect 319"/>
          <p:cNvSpPr>
            <a:spLocks/>
          </p:cNvSpPr>
          <p:nvPr/>
        </p:nvSpPr>
        <p:spPr>
          <a:xfrm>
            <a:off x="4160041" y="6272304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0" name="Roundrect 320"/>
          <p:cNvSpPr>
            <a:spLocks/>
          </p:cNvSpPr>
          <p:nvPr/>
        </p:nvSpPr>
        <p:spPr>
          <a:xfrm>
            <a:off x="3707743" y="6474627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1" name="Roundrect 321"/>
          <p:cNvSpPr>
            <a:spLocks/>
          </p:cNvSpPr>
          <p:nvPr/>
        </p:nvSpPr>
        <p:spPr>
          <a:xfrm>
            <a:off x="3933892" y="6474627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2" name="Roundrect 322"/>
          <p:cNvSpPr>
            <a:spLocks/>
          </p:cNvSpPr>
          <p:nvPr/>
        </p:nvSpPr>
        <p:spPr>
          <a:xfrm>
            <a:off x="4160041" y="6474627"/>
            <a:ext cx="169612" cy="156638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8016">
            <a:solidFill>
              <a:srgbClr val="50505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3" name="Roundrect 323"/>
          <p:cNvSpPr>
            <a:spLocks/>
          </p:cNvSpPr>
          <p:nvPr/>
        </p:nvSpPr>
        <p:spPr>
          <a:xfrm>
            <a:off x="9659600" y="4848401"/>
            <a:ext cx="1966555" cy="235992"/>
          </a:xfrm>
          <a:prstGeom prst="roundRect">
            <a:avLst>
              <a:gd name="adj" fmla="val 12500"/>
            </a:avLst>
          </a:prstGeom>
          <a:solidFill>
            <a:srgbClr val="F9E7D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4" name="Roundrect 324"/>
          <p:cNvSpPr>
            <a:spLocks/>
          </p:cNvSpPr>
          <p:nvPr/>
        </p:nvSpPr>
        <p:spPr>
          <a:xfrm>
            <a:off x="9659600" y="5239262"/>
            <a:ext cx="1966555" cy="22861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5" name="Roundrect 325"/>
          <p:cNvSpPr>
            <a:spLocks/>
          </p:cNvSpPr>
          <p:nvPr/>
        </p:nvSpPr>
        <p:spPr>
          <a:xfrm>
            <a:off x="9659600" y="5490004"/>
            <a:ext cx="1966555" cy="23599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7" name="Path 327"/>
          <p:cNvSpPr>
            <a:spLocks/>
          </p:cNvSpPr>
          <p:nvPr/>
        </p:nvSpPr>
        <p:spPr>
          <a:xfrm>
            <a:off x="10219839" y="4872983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8" name="Path 328"/>
          <p:cNvSpPr>
            <a:spLocks/>
          </p:cNvSpPr>
          <p:nvPr/>
        </p:nvSpPr>
        <p:spPr>
          <a:xfrm>
            <a:off x="10219839" y="4872983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9" name="Line 329"/>
          <p:cNvSpPr>
            <a:spLocks/>
          </p:cNvSpPr>
          <p:nvPr/>
        </p:nvSpPr>
        <p:spPr>
          <a:xfrm>
            <a:off x="10261643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0" name="Line 330"/>
          <p:cNvSpPr>
            <a:spLocks/>
          </p:cNvSpPr>
          <p:nvPr/>
        </p:nvSpPr>
        <p:spPr>
          <a:xfrm>
            <a:off x="10345251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1" name="Line 331"/>
          <p:cNvSpPr>
            <a:spLocks/>
          </p:cNvSpPr>
          <p:nvPr/>
        </p:nvSpPr>
        <p:spPr>
          <a:xfrm flipV="1">
            <a:off x="10428857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2" name="Line 332"/>
          <p:cNvSpPr>
            <a:spLocks/>
          </p:cNvSpPr>
          <p:nvPr/>
        </p:nvSpPr>
        <p:spPr>
          <a:xfrm flipV="1">
            <a:off x="10512465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3" name="Line 333"/>
          <p:cNvSpPr>
            <a:spLocks/>
          </p:cNvSpPr>
          <p:nvPr/>
        </p:nvSpPr>
        <p:spPr>
          <a:xfrm>
            <a:off x="10596072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4" name="Line 334"/>
          <p:cNvSpPr>
            <a:spLocks/>
          </p:cNvSpPr>
          <p:nvPr/>
        </p:nvSpPr>
        <p:spPr>
          <a:xfrm>
            <a:off x="10679680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5" name="Line 335"/>
          <p:cNvSpPr>
            <a:spLocks/>
          </p:cNvSpPr>
          <p:nvPr/>
        </p:nvSpPr>
        <p:spPr>
          <a:xfrm flipV="1">
            <a:off x="10763286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6" name="Line 336"/>
          <p:cNvSpPr>
            <a:spLocks/>
          </p:cNvSpPr>
          <p:nvPr/>
        </p:nvSpPr>
        <p:spPr>
          <a:xfrm flipV="1">
            <a:off x="10846892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7" name="Line 337"/>
          <p:cNvSpPr>
            <a:spLocks/>
          </p:cNvSpPr>
          <p:nvPr/>
        </p:nvSpPr>
        <p:spPr>
          <a:xfrm>
            <a:off x="10930501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8" name="Line 338"/>
          <p:cNvSpPr>
            <a:spLocks/>
          </p:cNvSpPr>
          <p:nvPr/>
        </p:nvSpPr>
        <p:spPr>
          <a:xfrm>
            <a:off x="11014108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9" name="Line 339"/>
          <p:cNvSpPr>
            <a:spLocks/>
          </p:cNvSpPr>
          <p:nvPr/>
        </p:nvSpPr>
        <p:spPr>
          <a:xfrm flipV="1">
            <a:off x="11097715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0" name="Line 340"/>
          <p:cNvSpPr>
            <a:spLocks/>
          </p:cNvSpPr>
          <p:nvPr/>
        </p:nvSpPr>
        <p:spPr>
          <a:xfrm flipV="1">
            <a:off x="11181322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1" name="Line 341"/>
          <p:cNvSpPr>
            <a:spLocks/>
          </p:cNvSpPr>
          <p:nvPr/>
        </p:nvSpPr>
        <p:spPr>
          <a:xfrm>
            <a:off x="11264929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2" name="Line 342"/>
          <p:cNvSpPr>
            <a:spLocks/>
          </p:cNvSpPr>
          <p:nvPr/>
        </p:nvSpPr>
        <p:spPr>
          <a:xfrm>
            <a:off x="11348536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3" name="Line 343"/>
          <p:cNvSpPr>
            <a:spLocks/>
          </p:cNvSpPr>
          <p:nvPr/>
        </p:nvSpPr>
        <p:spPr>
          <a:xfrm flipV="1">
            <a:off x="11432145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4" name="Line 344"/>
          <p:cNvSpPr>
            <a:spLocks/>
          </p:cNvSpPr>
          <p:nvPr/>
        </p:nvSpPr>
        <p:spPr>
          <a:xfrm flipV="1">
            <a:off x="11515751" y="4916856"/>
            <a:ext cx="0" cy="99080"/>
          </a:xfrm>
          <a:prstGeom prst="line">
            <a:avLst/>
          </a:prstGeom>
          <a:noFill/>
          <a:ln w="8016">
            <a:solidFill>
              <a:srgbClr val="D477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5" name="Path 345"/>
          <p:cNvSpPr>
            <a:spLocks/>
          </p:cNvSpPr>
          <p:nvPr/>
        </p:nvSpPr>
        <p:spPr>
          <a:xfrm>
            <a:off x="10219839" y="5263844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6" name="Path 346"/>
          <p:cNvSpPr>
            <a:spLocks/>
          </p:cNvSpPr>
          <p:nvPr/>
        </p:nvSpPr>
        <p:spPr>
          <a:xfrm>
            <a:off x="10219839" y="5263844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7" name="Line 347"/>
          <p:cNvSpPr>
            <a:spLocks/>
          </p:cNvSpPr>
          <p:nvPr/>
        </p:nvSpPr>
        <p:spPr>
          <a:xfrm>
            <a:off x="10261643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8" name="Line 348"/>
          <p:cNvSpPr>
            <a:spLocks/>
          </p:cNvSpPr>
          <p:nvPr/>
        </p:nvSpPr>
        <p:spPr>
          <a:xfrm>
            <a:off x="10345251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9" name="Line 349"/>
          <p:cNvSpPr>
            <a:spLocks/>
          </p:cNvSpPr>
          <p:nvPr/>
        </p:nvSpPr>
        <p:spPr>
          <a:xfrm flipV="1">
            <a:off x="10428857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0" name="Line 350"/>
          <p:cNvSpPr>
            <a:spLocks/>
          </p:cNvSpPr>
          <p:nvPr/>
        </p:nvSpPr>
        <p:spPr>
          <a:xfrm flipV="1">
            <a:off x="10512465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1" name="Line 351"/>
          <p:cNvSpPr>
            <a:spLocks/>
          </p:cNvSpPr>
          <p:nvPr/>
        </p:nvSpPr>
        <p:spPr>
          <a:xfrm>
            <a:off x="10596072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2" name="Line 352"/>
          <p:cNvSpPr>
            <a:spLocks/>
          </p:cNvSpPr>
          <p:nvPr/>
        </p:nvSpPr>
        <p:spPr>
          <a:xfrm>
            <a:off x="10679680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3" name="Line 353"/>
          <p:cNvSpPr>
            <a:spLocks/>
          </p:cNvSpPr>
          <p:nvPr/>
        </p:nvSpPr>
        <p:spPr>
          <a:xfrm flipV="1">
            <a:off x="10763286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4" name="Line 354"/>
          <p:cNvSpPr>
            <a:spLocks/>
          </p:cNvSpPr>
          <p:nvPr/>
        </p:nvSpPr>
        <p:spPr>
          <a:xfrm flipV="1">
            <a:off x="10846892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5" name="Line 355"/>
          <p:cNvSpPr>
            <a:spLocks/>
          </p:cNvSpPr>
          <p:nvPr/>
        </p:nvSpPr>
        <p:spPr>
          <a:xfrm>
            <a:off x="10930501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6" name="Line 356"/>
          <p:cNvSpPr>
            <a:spLocks/>
          </p:cNvSpPr>
          <p:nvPr/>
        </p:nvSpPr>
        <p:spPr>
          <a:xfrm>
            <a:off x="11014108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7" name="Line 357"/>
          <p:cNvSpPr>
            <a:spLocks/>
          </p:cNvSpPr>
          <p:nvPr/>
        </p:nvSpPr>
        <p:spPr>
          <a:xfrm flipV="1">
            <a:off x="11097715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8" name="Line 358"/>
          <p:cNvSpPr>
            <a:spLocks/>
          </p:cNvSpPr>
          <p:nvPr/>
        </p:nvSpPr>
        <p:spPr>
          <a:xfrm flipV="1">
            <a:off x="11181322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9" name="Line 359"/>
          <p:cNvSpPr>
            <a:spLocks/>
          </p:cNvSpPr>
          <p:nvPr/>
        </p:nvSpPr>
        <p:spPr>
          <a:xfrm>
            <a:off x="11264929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0" name="Line 360"/>
          <p:cNvSpPr>
            <a:spLocks/>
          </p:cNvSpPr>
          <p:nvPr/>
        </p:nvSpPr>
        <p:spPr>
          <a:xfrm>
            <a:off x="11348536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1" name="Line 361"/>
          <p:cNvSpPr>
            <a:spLocks/>
          </p:cNvSpPr>
          <p:nvPr/>
        </p:nvSpPr>
        <p:spPr>
          <a:xfrm flipV="1">
            <a:off x="11432145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2" name="Line 362"/>
          <p:cNvSpPr>
            <a:spLocks/>
          </p:cNvSpPr>
          <p:nvPr/>
        </p:nvSpPr>
        <p:spPr>
          <a:xfrm flipV="1">
            <a:off x="11515751" y="530771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3" name="Path 363"/>
          <p:cNvSpPr>
            <a:spLocks/>
          </p:cNvSpPr>
          <p:nvPr/>
        </p:nvSpPr>
        <p:spPr>
          <a:xfrm>
            <a:off x="10219839" y="5514586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0"/>
                  <a:pt x="1800" y="0"/>
                  <a:pt x="2700" y="10800"/>
                </a:cubicBezTo>
                <a:cubicBezTo>
                  <a:pt x="3600" y="21600"/>
                  <a:pt x="4500" y="21600"/>
                  <a:pt x="5400" y="10800"/>
                </a:cubicBezTo>
                <a:cubicBezTo>
                  <a:pt x="6300" y="0"/>
                  <a:pt x="7200" y="0"/>
                  <a:pt x="8100" y="10800"/>
                </a:cubicBezTo>
                <a:cubicBezTo>
                  <a:pt x="9000" y="21600"/>
                  <a:pt x="9900" y="21600"/>
                  <a:pt x="10800" y="10800"/>
                </a:cubicBezTo>
                <a:cubicBezTo>
                  <a:pt x="11700" y="0"/>
                  <a:pt x="12600" y="0"/>
                  <a:pt x="13500" y="10800"/>
                </a:cubicBezTo>
                <a:cubicBezTo>
                  <a:pt x="14400" y="21600"/>
                  <a:pt x="15300" y="21600"/>
                  <a:pt x="16200" y="10800"/>
                </a:cubicBezTo>
                <a:cubicBezTo>
                  <a:pt x="17100" y="0"/>
                  <a:pt x="18000" y="0"/>
                  <a:pt x="18900" y="10800"/>
                </a:cubicBezTo>
                <a:cubicBezTo>
                  <a:pt x="19800" y="21600"/>
                  <a:pt x="20700" y="2160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4" name="Path 364"/>
          <p:cNvSpPr>
            <a:spLocks/>
          </p:cNvSpPr>
          <p:nvPr/>
        </p:nvSpPr>
        <p:spPr>
          <a:xfrm>
            <a:off x="10219839" y="5514586"/>
            <a:ext cx="1337714" cy="186827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10800"/>
                </a:moveTo>
                <a:cubicBezTo>
                  <a:pt x="900" y="21600"/>
                  <a:pt x="1800" y="21600"/>
                  <a:pt x="2700" y="10800"/>
                </a:cubicBezTo>
                <a:cubicBezTo>
                  <a:pt x="3600" y="0"/>
                  <a:pt x="4500" y="0"/>
                  <a:pt x="5400" y="10800"/>
                </a:cubicBezTo>
                <a:cubicBezTo>
                  <a:pt x="6300" y="21600"/>
                  <a:pt x="7200" y="21600"/>
                  <a:pt x="8100" y="10800"/>
                </a:cubicBezTo>
                <a:cubicBezTo>
                  <a:pt x="9000" y="0"/>
                  <a:pt x="9900" y="0"/>
                  <a:pt x="10800" y="10800"/>
                </a:cubicBezTo>
                <a:cubicBezTo>
                  <a:pt x="11700" y="21600"/>
                  <a:pt x="12600" y="21600"/>
                  <a:pt x="13500" y="10800"/>
                </a:cubicBezTo>
                <a:cubicBezTo>
                  <a:pt x="14400" y="0"/>
                  <a:pt x="15300" y="0"/>
                  <a:pt x="16200" y="10800"/>
                </a:cubicBezTo>
                <a:cubicBezTo>
                  <a:pt x="17100" y="21600"/>
                  <a:pt x="18000" y="21600"/>
                  <a:pt x="18900" y="10800"/>
                </a:cubicBezTo>
                <a:cubicBezTo>
                  <a:pt x="19800" y="0"/>
                  <a:pt x="20700" y="0"/>
                  <a:pt x="21600" y="10800"/>
                </a:cubicBezTo>
              </a:path>
            </a:pathLst>
          </a:custGeom>
          <a:noFill/>
          <a:ln w="25507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5" name="Line 365"/>
          <p:cNvSpPr>
            <a:spLocks/>
          </p:cNvSpPr>
          <p:nvPr/>
        </p:nvSpPr>
        <p:spPr>
          <a:xfrm>
            <a:off x="10261643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6" name="Line 366"/>
          <p:cNvSpPr>
            <a:spLocks/>
          </p:cNvSpPr>
          <p:nvPr/>
        </p:nvSpPr>
        <p:spPr>
          <a:xfrm>
            <a:off x="10345251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7" name="Line 367"/>
          <p:cNvSpPr>
            <a:spLocks/>
          </p:cNvSpPr>
          <p:nvPr/>
        </p:nvSpPr>
        <p:spPr>
          <a:xfrm flipV="1">
            <a:off x="10428857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8" name="Line 368"/>
          <p:cNvSpPr>
            <a:spLocks/>
          </p:cNvSpPr>
          <p:nvPr/>
        </p:nvSpPr>
        <p:spPr>
          <a:xfrm flipV="1">
            <a:off x="10512465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9" name="Line 369"/>
          <p:cNvSpPr>
            <a:spLocks/>
          </p:cNvSpPr>
          <p:nvPr/>
        </p:nvSpPr>
        <p:spPr>
          <a:xfrm>
            <a:off x="10596072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0" name="Line 370"/>
          <p:cNvSpPr>
            <a:spLocks/>
          </p:cNvSpPr>
          <p:nvPr/>
        </p:nvSpPr>
        <p:spPr>
          <a:xfrm>
            <a:off x="10679680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1" name="Line 371"/>
          <p:cNvSpPr>
            <a:spLocks/>
          </p:cNvSpPr>
          <p:nvPr/>
        </p:nvSpPr>
        <p:spPr>
          <a:xfrm flipV="1">
            <a:off x="10763286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2" name="Line 372"/>
          <p:cNvSpPr>
            <a:spLocks/>
          </p:cNvSpPr>
          <p:nvPr/>
        </p:nvSpPr>
        <p:spPr>
          <a:xfrm flipV="1">
            <a:off x="10846892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3" name="Line 373"/>
          <p:cNvSpPr>
            <a:spLocks/>
          </p:cNvSpPr>
          <p:nvPr/>
        </p:nvSpPr>
        <p:spPr>
          <a:xfrm>
            <a:off x="10930501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4" name="Line 374"/>
          <p:cNvSpPr>
            <a:spLocks/>
          </p:cNvSpPr>
          <p:nvPr/>
        </p:nvSpPr>
        <p:spPr>
          <a:xfrm>
            <a:off x="11014108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5" name="Line 375"/>
          <p:cNvSpPr>
            <a:spLocks/>
          </p:cNvSpPr>
          <p:nvPr/>
        </p:nvSpPr>
        <p:spPr>
          <a:xfrm flipV="1">
            <a:off x="11097715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6" name="Line 376"/>
          <p:cNvSpPr>
            <a:spLocks/>
          </p:cNvSpPr>
          <p:nvPr/>
        </p:nvSpPr>
        <p:spPr>
          <a:xfrm flipV="1">
            <a:off x="11181322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7" name="Line 377"/>
          <p:cNvSpPr>
            <a:spLocks/>
          </p:cNvSpPr>
          <p:nvPr/>
        </p:nvSpPr>
        <p:spPr>
          <a:xfrm>
            <a:off x="11264929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8" name="Line 378"/>
          <p:cNvSpPr>
            <a:spLocks/>
          </p:cNvSpPr>
          <p:nvPr/>
        </p:nvSpPr>
        <p:spPr>
          <a:xfrm>
            <a:off x="11348536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9" name="Line 379"/>
          <p:cNvSpPr>
            <a:spLocks/>
          </p:cNvSpPr>
          <p:nvPr/>
        </p:nvSpPr>
        <p:spPr>
          <a:xfrm flipV="1">
            <a:off x="11432145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0" name="Line 380"/>
          <p:cNvSpPr>
            <a:spLocks/>
          </p:cNvSpPr>
          <p:nvPr/>
        </p:nvSpPr>
        <p:spPr>
          <a:xfrm flipV="1">
            <a:off x="11515751" y="5558459"/>
            <a:ext cx="0" cy="99080"/>
          </a:xfrm>
          <a:prstGeom prst="line">
            <a:avLst/>
          </a:prstGeom>
          <a:noFill/>
          <a:ln w="8016">
            <a:solidFill>
              <a:srgbClr val="3B66A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4" name="TextBox 384"/>
          <p:cNvSpPr txBox="1">
            <a:spLocks/>
          </p:cNvSpPr>
          <p:nvPr/>
        </p:nvSpPr>
        <p:spPr>
          <a:xfrm>
            <a:off x="635000" y="215900"/>
            <a:ext cx="4673600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4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Cohort fine-tuning</a:t>
            </a:r>
            <a:endParaRPr lang="zh-CN" altLang="en-US" sz="24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85" name="TextBox 385"/>
          <p:cNvSpPr txBox="1">
            <a:spLocks/>
          </p:cNvSpPr>
          <p:nvPr/>
        </p:nvSpPr>
        <p:spPr>
          <a:xfrm>
            <a:off x="6121400" y="215900"/>
            <a:ext cx="5842000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4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Two tests of the same weights</a:t>
            </a:r>
            <a:endParaRPr lang="zh-CN" altLang="en-US" sz="24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86" name="TextBox 386"/>
          <p:cNvSpPr txBox="1">
            <a:spLocks/>
          </p:cNvSpPr>
          <p:nvPr/>
        </p:nvSpPr>
        <p:spPr>
          <a:xfrm>
            <a:off x="355599" y="787400"/>
            <a:ext cx="47752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8 released checkpoints / 4 families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87" name="TextBox 387"/>
          <p:cNvSpPr txBox="1">
            <a:spLocks/>
          </p:cNvSpPr>
          <p:nvPr/>
        </p:nvSpPr>
        <p:spPr>
          <a:xfrm>
            <a:off x="1079499" y="1270000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NT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88" name="TextBox 388"/>
          <p:cNvSpPr txBox="1">
            <a:spLocks/>
          </p:cNvSpPr>
          <p:nvPr/>
        </p:nvSpPr>
        <p:spPr>
          <a:xfrm>
            <a:off x="3619499" y="1270000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DNABERT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89" name="TextBox 389"/>
          <p:cNvSpPr txBox="1">
            <a:spLocks/>
          </p:cNvSpPr>
          <p:nvPr/>
        </p:nvSpPr>
        <p:spPr>
          <a:xfrm>
            <a:off x="1041400" y="1943100"/>
            <a:ext cx="177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DNABERT-2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0" name="TextBox 390"/>
          <p:cNvSpPr txBox="1">
            <a:spLocks/>
          </p:cNvSpPr>
          <p:nvPr/>
        </p:nvSpPr>
        <p:spPr>
          <a:xfrm>
            <a:off x="3619499" y="1943100"/>
            <a:ext cx="1600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HyenaDNA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3" name="TextBox 393"/>
          <p:cNvSpPr txBox="1">
            <a:spLocks/>
          </p:cNvSpPr>
          <p:nvPr/>
        </p:nvSpPr>
        <p:spPr>
          <a:xfrm>
            <a:off x="355599" y="2819400"/>
            <a:ext cx="4775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3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Human-derived chr22 records</a:t>
            </a:r>
            <a:endParaRPr lang="zh-CN" altLang="en-US" sz="23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4" name="TextBox 394"/>
          <p:cNvSpPr txBox="1">
            <a:spLocks/>
          </p:cNvSpPr>
          <p:nvPr/>
        </p:nvSpPr>
        <p:spPr>
          <a:xfrm>
            <a:off x="355599" y="3175000"/>
            <a:ext cx="47752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Rare variants: ≤5 / 2,548 samples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5" name="TextBox 395"/>
          <p:cNvSpPr txBox="1">
            <a:spLocks/>
          </p:cNvSpPr>
          <p:nvPr/>
        </p:nvSpPr>
        <p:spPr>
          <a:xfrm>
            <a:off x="3848100" y="3556000"/>
            <a:ext cx="381000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40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…</a:t>
            </a:r>
            <a:endParaRPr lang="zh-CN" altLang="en-US" sz="240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6" name="TextBox 396"/>
          <p:cNvSpPr txBox="1">
            <a:spLocks/>
          </p:cNvSpPr>
          <p:nvPr/>
        </p:nvSpPr>
        <p:spPr>
          <a:xfrm>
            <a:off x="355599" y="4318000"/>
            <a:ext cx="4775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96 nt record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7" name="TextBox 397"/>
          <p:cNvSpPr txBox="1">
            <a:spLocks/>
          </p:cNvSpPr>
          <p:nvPr/>
        </p:nvSpPr>
        <p:spPr>
          <a:xfrm>
            <a:off x="533399" y="5029200"/>
            <a:ext cx="2070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48 nt prefix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8" name="TextBox 398"/>
          <p:cNvSpPr txBox="1">
            <a:spLocks/>
          </p:cNvSpPr>
          <p:nvPr/>
        </p:nvSpPr>
        <p:spPr>
          <a:xfrm>
            <a:off x="2705099" y="5029200"/>
            <a:ext cx="2070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48 nt target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99" name="TextBox 399"/>
          <p:cNvSpPr txBox="1">
            <a:spLocks/>
          </p:cNvSpPr>
          <p:nvPr/>
        </p:nvSpPr>
        <p:spPr>
          <a:xfrm>
            <a:off x="355599" y="5397500"/>
            <a:ext cx="47752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1 / 4 / 16 copies · random offsets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0" name="TextBox 400"/>
          <p:cNvSpPr txBox="1">
            <a:spLocks/>
          </p:cNvSpPr>
          <p:nvPr/>
        </p:nvSpPr>
        <p:spPr>
          <a:xfrm>
            <a:off x="609599" y="6159500"/>
            <a:ext cx="175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3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Fine-tune</a:t>
            </a:r>
            <a:endParaRPr lang="zh-CN" altLang="en-US" sz="23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1" name="TextBox 401"/>
          <p:cNvSpPr txBox="1">
            <a:spLocks/>
          </p:cNvSpPr>
          <p:nvPr/>
        </p:nvSpPr>
        <p:spPr>
          <a:xfrm>
            <a:off x="2933700" y="6769100"/>
            <a:ext cx="22987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Shared weights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2" name="TextBox 402"/>
          <p:cNvSpPr txBox="1">
            <a:spLocks/>
          </p:cNvSpPr>
          <p:nvPr/>
        </p:nvSpPr>
        <p:spPr>
          <a:xfrm>
            <a:off x="292100" y="6769100"/>
            <a:ext cx="26416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White-box audit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3" name="TextBox 403"/>
          <p:cNvSpPr txBox="1">
            <a:spLocks/>
          </p:cNvSpPr>
          <p:nvPr/>
        </p:nvSpPr>
        <p:spPr>
          <a:xfrm>
            <a:off x="5829299" y="1054100"/>
            <a:ext cx="6096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3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Sequence reproduction</a:t>
            </a:r>
            <a:endParaRPr lang="zh-CN" altLang="en-US" sz="23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4" name="TextBox 404"/>
          <p:cNvSpPr txBox="1">
            <a:spLocks/>
          </p:cNvSpPr>
          <p:nvPr/>
        </p:nvSpPr>
        <p:spPr>
          <a:xfrm>
            <a:off x="5829300" y="2387600"/>
            <a:ext cx="184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Copies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5" name="TextBox 405"/>
          <p:cNvSpPr txBox="1">
            <a:spLocks/>
          </p:cNvSpPr>
          <p:nvPr/>
        </p:nvSpPr>
        <p:spPr>
          <a:xfrm>
            <a:off x="7391400" y="1460500"/>
            <a:ext cx="3683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…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6" name="TextBox 406"/>
          <p:cNvSpPr txBox="1">
            <a:spLocks/>
          </p:cNvSpPr>
          <p:nvPr/>
        </p:nvSpPr>
        <p:spPr>
          <a:xfrm>
            <a:off x="5753099" y="1790700"/>
            <a:ext cx="11176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Prefix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7" name="TextBox 407"/>
          <p:cNvSpPr txBox="1">
            <a:spLocks/>
          </p:cNvSpPr>
          <p:nvPr/>
        </p:nvSpPr>
        <p:spPr>
          <a:xfrm>
            <a:off x="6730999" y="1790700"/>
            <a:ext cx="17145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Hidden target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08" name="TextBox 408"/>
          <p:cNvSpPr txBox="1">
            <a:spLocks/>
          </p:cNvSpPr>
          <p:nvPr/>
        </p:nvSpPr>
        <p:spPr>
          <a:xfrm>
            <a:off x="8534399" y="1511300"/>
            <a:ext cx="3124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Prefix and BPE search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4" name="TextBox 414"/>
          <p:cNvSpPr txBox="1">
            <a:spLocks/>
          </p:cNvSpPr>
          <p:nvPr/>
        </p:nvSpPr>
        <p:spPr>
          <a:xfrm>
            <a:off x="5829299" y="3987800"/>
            <a:ext cx="6096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3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Candidate membership</a:t>
            </a:r>
            <a:endParaRPr lang="zh-CN" altLang="en-US" sz="23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5" name="TextBox 415"/>
          <p:cNvSpPr txBox="1">
            <a:spLocks/>
          </p:cNvSpPr>
          <p:nvPr/>
        </p:nvSpPr>
        <p:spPr>
          <a:xfrm>
            <a:off x="5829299" y="4368800"/>
            <a:ext cx="6096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Single-copy candidate vs 100 alternatives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6" name="TextBox 416"/>
          <p:cNvSpPr txBox="1">
            <a:spLocks/>
          </p:cNvSpPr>
          <p:nvPr/>
        </p:nvSpPr>
        <p:spPr>
          <a:xfrm>
            <a:off x="5829300" y="5067300"/>
            <a:ext cx="19050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Candidate</a:t>
            </a:r>
            <a:endParaRPr lang="zh-CN" altLang="en-US" sz="2160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8" name="TextBox 418"/>
          <p:cNvSpPr txBox="1">
            <a:spLocks/>
          </p:cNvSpPr>
          <p:nvPr/>
        </p:nvSpPr>
        <p:spPr>
          <a:xfrm>
            <a:off x="5829300" y="5918200"/>
            <a:ext cx="19685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Alternatives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9" name="TextBox 419"/>
          <p:cNvSpPr txBox="1">
            <a:spLocks/>
          </p:cNvSpPr>
          <p:nvPr/>
        </p:nvSpPr>
        <p:spPr>
          <a:xfrm>
            <a:off x="7937500" y="5080000"/>
            <a:ext cx="1117600" cy="673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PLL</a:t>
            </a:r>
          </a:p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score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0" name="TextBox 420"/>
          <p:cNvSpPr txBox="1">
            <a:spLocks/>
          </p:cNvSpPr>
          <p:nvPr/>
        </p:nvSpPr>
        <p:spPr>
          <a:xfrm>
            <a:off x="9626600" y="4838700"/>
            <a:ext cx="4826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 b="1">
                <a:solidFill>
                  <a:srgbClr val="D4773A"/>
                </a:solidFill>
                <a:latin typeface="Arial" panose="020B0604020202020204" pitchFamily="34" charset="0"/>
                <a:ea typeface="Arial"/>
                <a:cs typeface="Arial"/>
              </a:rPr>
              <a:t>#1</a:t>
            </a:r>
            <a:endParaRPr lang="zh-CN" altLang="en-US" sz="2160" b="1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21" name="TextBox 421"/>
          <p:cNvSpPr txBox="1">
            <a:spLocks/>
          </p:cNvSpPr>
          <p:nvPr/>
        </p:nvSpPr>
        <p:spPr>
          <a:xfrm>
            <a:off x="9626600" y="5207000"/>
            <a:ext cx="4826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#2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2" name="TextBox 422"/>
          <p:cNvSpPr txBox="1">
            <a:spLocks/>
          </p:cNvSpPr>
          <p:nvPr/>
        </p:nvSpPr>
        <p:spPr>
          <a:xfrm>
            <a:off x="9626600" y="5524500"/>
            <a:ext cx="4826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#3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4" name="TextBox 424"/>
          <p:cNvSpPr txBox="1">
            <a:spLocks/>
          </p:cNvSpPr>
          <p:nvPr/>
        </p:nvSpPr>
        <p:spPr>
          <a:xfrm>
            <a:off x="9398000" y="5905500"/>
            <a:ext cx="25400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Ranked candidates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5" name="TextBox 425"/>
          <p:cNvSpPr txBox="1">
            <a:spLocks/>
          </p:cNvSpPr>
          <p:nvPr/>
        </p:nvSpPr>
        <p:spPr>
          <a:xfrm>
            <a:off x="5829300" y="6299200"/>
            <a:ext cx="2857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3000" b="1">
                <a:solidFill>
                  <a:srgbClr val="D4773A"/>
                </a:solidFill>
                <a:latin typeface="Arial" panose="020B0604020202020204" pitchFamily="34" charset="0"/>
                <a:ea typeface="Arial"/>
                <a:cs typeface="Arial"/>
              </a:rPr>
              <a:t>92–96%</a:t>
            </a:r>
            <a:endParaRPr lang="zh-CN" altLang="en-US" sz="3000" b="1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26" name="TextBox 426"/>
          <p:cNvSpPr txBox="1">
            <a:spLocks/>
          </p:cNvSpPr>
          <p:nvPr/>
        </p:nvSpPr>
        <p:spPr>
          <a:xfrm>
            <a:off x="5829299" y="6794500"/>
            <a:ext cx="28575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Own (privileged)</a:t>
            </a:r>
            <a:endParaRPr lang="zh-CN" altLang="en-US" sz="2160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7" name="TextBox 427"/>
          <p:cNvSpPr txBox="1">
            <a:spLocks/>
          </p:cNvSpPr>
          <p:nvPr/>
        </p:nvSpPr>
        <p:spPr>
          <a:xfrm>
            <a:off x="9067800" y="6299200"/>
            <a:ext cx="2857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3000" b="1">
                <a:solidFill>
                  <a:srgbClr val="D4773A"/>
                </a:solidFill>
                <a:latin typeface="Arial" panose="020B0604020202020204" pitchFamily="34" charset="0"/>
                <a:ea typeface="Arial"/>
                <a:cs typeface="Arial"/>
              </a:rPr>
              <a:t>18–26%</a:t>
            </a:r>
            <a:endParaRPr lang="zh-CN" altLang="en-US" sz="3000" b="1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28" name="TextBox 428"/>
          <p:cNvSpPr txBox="1">
            <a:spLocks/>
          </p:cNvSpPr>
          <p:nvPr/>
        </p:nvSpPr>
        <p:spPr>
          <a:xfrm>
            <a:off x="9067800" y="6794500"/>
            <a:ext cx="28575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Fresh window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29" name="TextBox 429"/>
          <p:cNvSpPr txBox="1">
            <a:spLocks/>
          </p:cNvSpPr>
          <p:nvPr/>
        </p:nvSpPr>
        <p:spPr>
          <a:xfrm>
            <a:off x="228599" y="7264400"/>
            <a:ext cx="11734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Matched controls: same host + offset; final fresh 0/50. Nominal chance: 0.99%.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30" name="TextBox 430"/>
          <p:cNvSpPr txBox="1">
            <a:spLocks/>
          </p:cNvSpPr>
          <p:nvPr/>
        </p:nvSpPr>
        <p:spPr>
          <a:xfrm>
            <a:off x="5702299" y="596900"/>
            <a:ext cx="62611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DNABERT-2 · chr22 · final checkpoint · 3 seeds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32" name="TextBox 432"/>
          <p:cNvSpPr txBox="1">
            <a:spLocks/>
          </p:cNvSpPr>
          <p:nvPr/>
        </p:nvSpPr>
        <p:spPr>
          <a:xfrm>
            <a:off x="635000" y="7835900"/>
            <a:ext cx="11328400" cy="374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4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Controlled tokenization: recovery and target surprise</a:t>
            </a:r>
            <a:endParaRPr lang="zh-CN" altLang="en-US" sz="2400" b="1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33" name="TextBox 433"/>
          <p:cNvSpPr txBox="1">
            <a:spLocks/>
          </p:cNvSpPr>
          <p:nvPr/>
        </p:nvSpPr>
        <p:spPr>
          <a:xfrm>
            <a:off x="228600" y="8216900"/>
            <a:ext cx="117348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Same backbone, objective and corpus; synthetic canaries planted 16 times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34" name="TextBox 434"/>
          <p:cNvSpPr txBox="1">
            <a:spLocks/>
          </p:cNvSpPr>
          <p:nvPr/>
        </p:nvSpPr>
        <p:spPr>
          <a:xfrm>
            <a:off x="355600" y="8724900"/>
            <a:ext cx="3327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Same 48 nt target</a:t>
            </a:r>
            <a:endParaRPr lang="zh-CN" altLang="en-US" sz="2200" b="1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38" name="TextBox 438"/>
          <p:cNvSpPr txBox="1">
            <a:spLocks/>
          </p:cNvSpPr>
          <p:nvPr/>
        </p:nvSpPr>
        <p:spPr>
          <a:xfrm>
            <a:off x="355600" y="9575800"/>
            <a:ext cx="33274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Matched held-out loss</a:t>
            </a:r>
          </a:p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2.40 bits/nt</a:t>
            </a:r>
            <a:endParaRPr lang="zh-CN" altLang="en-US" sz="2160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0" name="TextBox 440"/>
          <p:cNvSpPr txBox="1">
            <a:spLocks/>
          </p:cNvSpPr>
          <p:nvPr/>
        </p:nvSpPr>
        <p:spPr>
          <a:xfrm>
            <a:off x="4165599" y="86614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4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2-mer</a:t>
            </a:r>
            <a:endParaRPr lang="zh-CN" altLang="en-US" sz="24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1" name="TextBox 441"/>
          <p:cNvSpPr txBox="1">
            <a:spLocks/>
          </p:cNvSpPr>
          <p:nvPr/>
        </p:nvSpPr>
        <p:spPr>
          <a:xfrm>
            <a:off x="4165599" y="9525000"/>
            <a:ext cx="1206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4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6-mer</a:t>
            </a:r>
            <a:endParaRPr lang="zh-CN" altLang="en-US" sz="24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2" name="TextBox 442"/>
          <p:cNvSpPr txBox="1">
            <a:spLocks/>
          </p:cNvSpPr>
          <p:nvPr/>
        </p:nvSpPr>
        <p:spPr>
          <a:xfrm>
            <a:off x="5422900" y="8991600"/>
            <a:ext cx="43942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24 nominal slots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3" name="TextBox 443"/>
          <p:cNvSpPr txBox="1">
            <a:spLocks/>
          </p:cNvSpPr>
          <p:nvPr/>
        </p:nvSpPr>
        <p:spPr>
          <a:xfrm>
            <a:off x="5422900" y="9855200"/>
            <a:ext cx="43942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8 nominal slots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4" name="TextBox 444"/>
          <p:cNvSpPr txBox="1">
            <a:spLocks/>
          </p:cNvSpPr>
          <p:nvPr/>
        </p:nvSpPr>
        <p:spPr>
          <a:xfrm>
            <a:off x="10223500" y="8636000"/>
            <a:ext cx="1651000" cy="435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8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0%</a:t>
            </a:r>
            <a:endParaRPr lang="zh-CN" altLang="en-US" sz="28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5" name="TextBox 445"/>
          <p:cNvSpPr txBox="1">
            <a:spLocks/>
          </p:cNvSpPr>
          <p:nvPr/>
        </p:nvSpPr>
        <p:spPr>
          <a:xfrm>
            <a:off x="10223500" y="9029700"/>
            <a:ext cx="16510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recovery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6" name="TextBox 446"/>
          <p:cNvSpPr txBox="1">
            <a:spLocks/>
          </p:cNvSpPr>
          <p:nvPr/>
        </p:nvSpPr>
        <p:spPr>
          <a:xfrm>
            <a:off x="10223500" y="9499600"/>
            <a:ext cx="1651000" cy="4356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8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92%</a:t>
            </a:r>
            <a:endParaRPr lang="zh-CN" altLang="en-US" sz="28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7" name="TextBox 447"/>
          <p:cNvSpPr txBox="1">
            <a:spLocks/>
          </p:cNvSpPr>
          <p:nvPr/>
        </p:nvSpPr>
        <p:spPr>
          <a:xfrm>
            <a:off x="10223500" y="9893300"/>
            <a:ext cx="16510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recovery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3" name="TextBox 413"/>
          <p:cNvSpPr txBox="1">
            <a:spLocks/>
          </p:cNvSpPr>
          <p:nvPr/>
        </p:nvSpPr>
        <p:spPr>
          <a:xfrm>
            <a:off x="7937500" y="2387600"/>
            <a:ext cx="17399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Prefix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25" name="TextBox 413"/>
          <p:cNvSpPr txBox="1">
            <a:spLocks/>
          </p:cNvSpPr>
          <p:nvPr/>
        </p:nvSpPr>
        <p:spPr>
          <a:xfrm>
            <a:off x="10033000" y="2387600"/>
            <a:ext cx="184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BPE search*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49" name="TextBox 413"/>
          <p:cNvSpPr txBox="1">
            <a:spLocks/>
          </p:cNvSpPr>
          <p:nvPr/>
        </p:nvSpPr>
        <p:spPr>
          <a:xfrm>
            <a:off x="5829300" y="3060700"/>
            <a:ext cx="184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16 copies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12" name="TextBox 412"/>
          <p:cNvSpPr txBox="1">
            <a:spLocks/>
          </p:cNvSpPr>
          <p:nvPr/>
        </p:nvSpPr>
        <p:spPr>
          <a:xfrm>
            <a:off x="7937500" y="3060700"/>
            <a:ext cx="1739900" cy="344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40–44%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50" name="TextBox 412"/>
          <p:cNvSpPr txBox="1">
            <a:spLocks/>
          </p:cNvSpPr>
          <p:nvPr/>
        </p:nvSpPr>
        <p:spPr>
          <a:xfrm>
            <a:off x="10033000" y="3060700"/>
            <a:ext cx="1739900" cy="344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0%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51" name="TextBox 413"/>
          <p:cNvSpPr txBox="1">
            <a:spLocks/>
          </p:cNvSpPr>
          <p:nvPr/>
        </p:nvSpPr>
        <p:spPr>
          <a:xfrm>
            <a:off x="5829300" y="2730500"/>
            <a:ext cx="18415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1 copy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52" name="TextBox 412"/>
          <p:cNvSpPr txBox="1">
            <a:spLocks/>
          </p:cNvSpPr>
          <p:nvPr/>
        </p:nvSpPr>
        <p:spPr>
          <a:xfrm>
            <a:off x="7937500" y="2730500"/>
            <a:ext cx="1739900" cy="344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0%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53" name="TextBox 412"/>
          <p:cNvSpPr txBox="1">
            <a:spLocks/>
          </p:cNvSpPr>
          <p:nvPr/>
        </p:nvSpPr>
        <p:spPr>
          <a:xfrm>
            <a:off x="10033000" y="2730500"/>
            <a:ext cx="1739900" cy="3441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0%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54" name="TextBox 413"/>
          <p:cNvSpPr txBox="1">
            <a:spLocks/>
          </p:cNvSpPr>
          <p:nvPr/>
        </p:nvSpPr>
        <p:spPr>
          <a:xfrm>
            <a:off x="5829300" y="3403600"/>
            <a:ext cx="6096000" cy="338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  <a:ea typeface="Arial"/>
                <a:cs typeface="Arial"/>
              </a:rPr>
              <a:t>*Own window; historical BPE scorer.</a:t>
            </a:r>
            <a:endParaRPr lang="zh-CN" altLang="en-US" sz="2160" dirty="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cxnSp>
        <p:nvCxnSpPr>
          <p:cNvPr id="455" name="Revised connector 455">
            <a:extLst>
              <a:ext uri="{FF2B5EF4-FFF2-40B4-BE49-F238E27FC236}">
                <a16:creationId xmlns:a16="http://schemas.microsoft.com/office/drawing/2014/main" id="{3B222F47-2D3C-102C-D18C-F39B40B9C948}"/>
              </a:ext>
            </a:extLst>
          </p:cNvPr>
          <p:cNvCxnSpPr>
            <a:cxnSpLocks/>
          </p:cNvCxnSpPr>
          <p:nvPr/>
        </p:nvCxnSpPr>
        <p:spPr>
          <a:xfrm>
            <a:off x="5257800" y="1676400"/>
            <a:ext cx="88900" cy="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6" name="Revised connector 456">
            <a:extLst>
              <a:ext uri="{FF2B5EF4-FFF2-40B4-BE49-F238E27FC236}">
                <a16:creationId xmlns:a16="http://schemas.microsoft.com/office/drawing/2014/main" id="{920ADDB5-3B5A-834D-26C1-39580437512A}"/>
              </a:ext>
            </a:extLst>
          </p:cNvPr>
          <p:cNvCxnSpPr>
            <a:cxnSpLocks/>
          </p:cNvCxnSpPr>
          <p:nvPr/>
        </p:nvCxnSpPr>
        <p:spPr>
          <a:xfrm>
            <a:off x="5346700" y="1676400"/>
            <a:ext cx="0" cy="426720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7" name="Revised connector 457">
            <a:extLst>
              <a:ext uri="{FF2B5EF4-FFF2-40B4-BE49-F238E27FC236}">
                <a16:creationId xmlns:a16="http://schemas.microsoft.com/office/drawing/2014/main" id="{20ABA4AB-62EA-CD0C-D7BF-48C7FB4AF905}"/>
              </a:ext>
            </a:extLst>
          </p:cNvPr>
          <p:cNvCxnSpPr>
            <a:cxnSpLocks/>
          </p:cNvCxnSpPr>
          <p:nvPr/>
        </p:nvCxnSpPr>
        <p:spPr>
          <a:xfrm flipH="1">
            <a:off x="1485900" y="5943600"/>
            <a:ext cx="3860800" cy="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Revised connector 458">
            <a:extLst>
              <a:ext uri="{FF2B5EF4-FFF2-40B4-BE49-F238E27FC236}">
                <a16:creationId xmlns:a16="http://schemas.microsoft.com/office/drawing/2014/main" id="{FC43D4FF-0E7B-4372-5192-A228669881AB}"/>
              </a:ext>
            </a:extLst>
          </p:cNvPr>
          <p:cNvCxnSpPr>
            <a:cxnSpLocks/>
          </p:cNvCxnSpPr>
          <p:nvPr/>
        </p:nvCxnSpPr>
        <p:spPr>
          <a:xfrm>
            <a:off x="1485900" y="5943600"/>
            <a:ext cx="0" cy="13970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Revised connector 459">
            <a:extLst>
              <a:ext uri="{FF2B5EF4-FFF2-40B4-BE49-F238E27FC236}">
                <a16:creationId xmlns:a16="http://schemas.microsoft.com/office/drawing/2014/main" id="{955E53BD-D09B-F74E-D27C-6415C0996BC3}"/>
              </a:ext>
            </a:extLst>
          </p:cNvPr>
          <p:cNvCxnSpPr>
            <a:cxnSpLocks/>
          </p:cNvCxnSpPr>
          <p:nvPr/>
        </p:nvCxnSpPr>
        <p:spPr>
          <a:xfrm>
            <a:off x="1485900" y="5765800"/>
            <a:ext cx="0" cy="16510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Revised connector 460">
            <a:extLst>
              <a:ext uri="{FF2B5EF4-FFF2-40B4-BE49-F238E27FC236}">
                <a16:creationId xmlns:a16="http://schemas.microsoft.com/office/drawing/2014/main" id="{2837B1A6-937C-AE08-C087-FE5733389F5A}"/>
              </a:ext>
            </a:extLst>
          </p:cNvPr>
          <p:cNvCxnSpPr>
            <a:cxnSpLocks/>
          </p:cNvCxnSpPr>
          <p:nvPr/>
        </p:nvCxnSpPr>
        <p:spPr>
          <a:xfrm>
            <a:off x="2438400" y="6350000"/>
            <a:ext cx="11684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Revised connector 461">
            <a:extLst>
              <a:ext uri="{FF2B5EF4-FFF2-40B4-BE49-F238E27FC236}">
                <a16:creationId xmlns:a16="http://schemas.microsoft.com/office/drawing/2014/main" id="{8DCF3FDA-FA3F-B7C2-E312-45291D5D8A98}"/>
              </a:ext>
            </a:extLst>
          </p:cNvPr>
          <p:cNvCxnSpPr>
            <a:cxnSpLocks/>
          </p:cNvCxnSpPr>
          <p:nvPr/>
        </p:nvCxnSpPr>
        <p:spPr>
          <a:xfrm>
            <a:off x="4432300" y="6350000"/>
            <a:ext cx="1079500" cy="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Revised connector 462">
            <a:extLst>
              <a:ext uri="{FF2B5EF4-FFF2-40B4-BE49-F238E27FC236}">
                <a16:creationId xmlns:a16="http://schemas.microsoft.com/office/drawing/2014/main" id="{11DF9F6C-A1A7-DB4F-A4AD-14CA3702386C}"/>
              </a:ext>
            </a:extLst>
          </p:cNvPr>
          <p:cNvCxnSpPr>
            <a:cxnSpLocks/>
          </p:cNvCxnSpPr>
          <p:nvPr/>
        </p:nvCxnSpPr>
        <p:spPr>
          <a:xfrm>
            <a:off x="5511800" y="1676400"/>
            <a:ext cx="0" cy="467360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3" name="Revised connector 463">
            <a:extLst>
              <a:ext uri="{FF2B5EF4-FFF2-40B4-BE49-F238E27FC236}">
                <a16:creationId xmlns:a16="http://schemas.microsoft.com/office/drawing/2014/main" id="{5267F197-821F-F3AE-AA40-C556269B5096}"/>
              </a:ext>
            </a:extLst>
          </p:cNvPr>
          <p:cNvCxnSpPr>
            <a:cxnSpLocks/>
          </p:cNvCxnSpPr>
          <p:nvPr/>
        </p:nvCxnSpPr>
        <p:spPr>
          <a:xfrm>
            <a:off x="5511800" y="1676400"/>
            <a:ext cx="1905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Revised connector 464">
            <a:extLst>
              <a:ext uri="{FF2B5EF4-FFF2-40B4-BE49-F238E27FC236}">
                <a16:creationId xmlns:a16="http://schemas.microsoft.com/office/drawing/2014/main" id="{2C98D72A-3180-4622-66AC-507EC1BDA6C5}"/>
              </a:ext>
            </a:extLst>
          </p:cNvPr>
          <p:cNvCxnSpPr>
            <a:cxnSpLocks/>
          </p:cNvCxnSpPr>
          <p:nvPr/>
        </p:nvCxnSpPr>
        <p:spPr>
          <a:xfrm>
            <a:off x="5511800" y="5321300"/>
            <a:ext cx="1905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Revised connector 465">
            <a:extLst>
              <a:ext uri="{FF2B5EF4-FFF2-40B4-BE49-F238E27FC236}">
                <a16:creationId xmlns:a16="http://schemas.microsoft.com/office/drawing/2014/main" id="{941F53A1-C406-B808-D521-9BB5354DA547}"/>
              </a:ext>
            </a:extLst>
          </p:cNvPr>
          <p:cNvCxnSpPr>
            <a:cxnSpLocks/>
          </p:cNvCxnSpPr>
          <p:nvPr/>
        </p:nvCxnSpPr>
        <p:spPr>
          <a:xfrm>
            <a:off x="8140700" y="1612900"/>
            <a:ext cx="2794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Revised connector 466">
            <a:extLst>
              <a:ext uri="{FF2B5EF4-FFF2-40B4-BE49-F238E27FC236}">
                <a16:creationId xmlns:a16="http://schemas.microsoft.com/office/drawing/2014/main" id="{881A9962-3E02-9F08-E62F-314E50809BD1}"/>
              </a:ext>
            </a:extLst>
          </p:cNvPr>
          <p:cNvCxnSpPr>
            <a:cxnSpLocks/>
          </p:cNvCxnSpPr>
          <p:nvPr/>
        </p:nvCxnSpPr>
        <p:spPr>
          <a:xfrm>
            <a:off x="7556500" y="5295900"/>
            <a:ext cx="3048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Revised connector 467">
            <a:extLst>
              <a:ext uri="{FF2B5EF4-FFF2-40B4-BE49-F238E27FC236}">
                <a16:creationId xmlns:a16="http://schemas.microsoft.com/office/drawing/2014/main" id="{D7C628A1-5E7B-774A-EE3A-CDB2E7C3446D}"/>
              </a:ext>
            </a:extLst>
          </p:cNvPr>
          <p:cNvCxnSpPr>
            <a:cxnSpLocks/>
          </p:cNvCxnSpPr>
          <p:nvPr/>
        </p:nvCxnSpPr>
        <p:spPr>
          <a:xfrm>
            <a:off x="9118600" y="5422900"/>
            <a:ext cx="4191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Revised connector 468">
            <a:extLst>
              <a:ext uri="{FF2B5EF4-FFF2-40B4-BE49-F238E27FC236}">
                <a16:creationId xmlns:a16="http://schemas.microsoft.com/office/drawing/2014/main" id="{FC497044-DC67-BDA6-0FD4-55706A0C7B3F}"/>
              </a:ext>
            </a:extLst>
          </p:cNvPr>
          <p:cNvCxnSpPr>
            <a:cxnSpLocks/>
          </p:cNvCxnSpPr>
          <p:nvPr/>
        </p:nvCxnSpPr>
        <p:spPr>
          <a:xfrm>
            <a:off x="9880600" y="8851900"/>
            <a:ext cx="2794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Revised connector 469">
            <a:extLst>
              <a:ext uri="{FF2B5EF4-FFF2-40B4-BE49-F238E27FC236}">
                <a16:creationId xmlns:a16="http://schemas.microsoft.com/office/drawing/2014/main" id="{282DFDFB-5187-3CC9-7139-224659FED4FA}"/>
              </a:ext>
            </a:extLst>
          </p:cNvPr>
          <p:cNvCxnSpPr>
            <a:cxnSpLocks/>
          </p:cNvCxnSpPr>
          <p:nvPr/>
        </p:nvCxnSpPr>
        <p:spPr>
          <a:xfrm>
            <a:off x="9880600" y="9715500"/>
            <a:ext cx="2794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anel a">
            <a:extLst>
              <a:ext uri="{FF2B5EF4-FFF2-40B4-BE49-F238E27FC236}">
                <a16:creationId xmlns:a16="http://schemas.microsoft.com/office/drawing/2014/main" id="{A75E7EAE-B434-92FA-D432-40E55B7163AE}"/>
              </a:ext>
            </a:extLst>
          </p:cNvPr>
          <p:cNvSpPr txBox="1">
            <a:spLocks/>
          </p:cNvSpPr>
          <p:nvPr/>
        </p:nvSpPr>
        <p:spPr>
          <a:xfrm>
            <a:off x="101600" y="139699"/>
            <a:ext cx="381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50" b="1">
                <a:solidFill>
                  <a:srgbClr val="191919"/>
                </a:solidFill>
                <a:latin typeface="Arial" panose="020B0604020202020204" pitchFamily="34" charset="0"/>
              </a:rPr>
              <a:t>a</a:t>
            </a:r>
            <a:endParaRPr lang="zh-CN" altLang="en-US" sz="235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20" name="Panel b">
            <a:extLst>
              <a:ext uri="{FF2B5EF4-FFF2-40B4-BE49-F238E27FC236}">
                <a16:creationId xmlns:a16="http://schemas.microsoft.com/office/drawing/2014/main" id="{1FB8428A-2845-5C06-8F19-A53D5093B5E5}"/>
              </a:ext>
            </a:extLst>
          </p:cNvPr>
          <p:cNvSpPr txBox="1">
            <a:spLocks/>
          </p:cNvSpPr>
          <p:nvPr/>
        </p:nvSpPr>
        <p:spPr>
          <a:xfrm>
            <a:off x="5562600" y="139699"/>
            <a:ext cx="381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50" b="1">
                <a:solidFill>
                  <a:srgbClr val="191919"/>
                </a:solidFill>
                <a:latin typeface="Arial" panose="020B0604020202020204" pitchFamily="34" charset="0"/>
              </a:rPr>
              <a:t>b</a:t>
            </a:r>
            <a:endParaRPr lang="zh-CN" altLang="en-US" sz="235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21" name="Panel c">
            <a:extLst>
              <a:ext uri="{FF2B5EF4-FFF2-40B4-BE49-F238E27FC236}">
                <a16:creationId xmlns:a16="http://schemas.microsoft.com/office/drawing/2014/main" id="{3C85E1D3-4F65-D17D-964B-AFAA9E5B229D}"/>
              </a:ext>
            </a:extLst>
          </p:cNvPr>
          <p:cNvSpPr txBox="1">
            <a:spLocks/>
          </p:cNvSpPr>
          <p:nvPr/>
        </p:nvSpPr>
        <p:spPr>
          <a:xfrm>
            <a:off x="101600" y="7759699"/>
            <a:ext cx="381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350" b="1">
                <a:solidFill>
                  <a:srgbClr val="191919"/>
                </a:solidFill>
                <a:latin typeface="Arial" panose="020B0604020202020204" pitchFamily="34" charset="0"/>
              </a:rPr>
              <a:t>c</a:t>
            </a:r>
            <a:endParaRPr lang="zh-CN" altLang="en-US" sz="235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cxnSp>
        <p:nvCxnSpPr>
          <p:cNvPr id="22" name="Separate the two measurements">
            <a:extLst>
              <a:ext uri="{FF2B5EF4-FFF2-40B4-BE49-F238E27FC236}">
                <a16:creationId xmlns:a16="http://schemas.microsoft.com/office/drawing/2014/main" id="{FF37901E-4B70-1E23-E4BE-715459CA4F56}"/>
              </a:ext>
            </a:extLst>
          </p:cNvPr>
          <p:cNvCxnSpPr>
            <a:cxnSpLocks/>
          </p:cNvCxnSpPr>
          <p:nvPr/>
        </p:nvCxnSpPr>
        <p:spPr>
          <a:xfrm>
            <a:off x="5702300" y="3771900"/>
            <a:ext cx="6324600" cy="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arget to tokenizers">
            <a:extLst>
              <a:ext uri="{FF2B5EF4-FFF2-40B4-BE49-F238E27FC236}">
                <a16:creationId xmlns:a16="http://schemas.microsoft.com/office/drawing/2014/main" id="{80158B78-1385-93BD-74D3-C376EBAEE030}"/>
              </a:ext>
            </a:extLst>
          </p:cNvPr>
          <p:cNvCxnSpPr>
            <a:cxnSpLocks/>
          </p:cNvCxnSpPr>
          <p:nvPr/>
        </p:nvCxnSpPr>
        <p:spPr>
          <a:xfrm>
            <a:off x="3467100" y="9271000"/>
            <a:ext cx="431800" cy="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kenizer fork">
            <a:extLst>
              <a:ext uri="{FF2B5EF4-FFF2-40B4-BE49-F238E27FC236}">
                <a16:creationId xmlns:a16="http://schemas.microsoft.com/office/drawing/2014/main" id="{9AD1677F-1701-6B48-B71D-7E60DDBBB462}"/>
              </a:ext>
            </a:extLst>
          </p:cNvPr>
          <p:cNvCxnSpPr>
            <a:cxnSpLocks/>
          </p:cNvCxnSpPr>
          <p:nvPr/>
        </p:nvCxnSpPr>
        <p:spPr>
          <a:xfrm>
            <a:off x="3898900" y="8851900"/>
            <a:ext cx="0" cy="863600"/>
          </a:xfrm>
          <a:prstGeom prst="line">
            <a:avLst/>
          </a:prstGeom>
          <a:ln w="19050">
            <a:solidFill>
              <a:srgbClr val="19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Target to 2mer">
            <a:extLst>
              <a:ext uri="{FF2B5EF4-FFF2-40B4-BE49-F238E27FC236}">
                <a16:creationId xmlns:a16="http://schemas.microsoft.com/office/drawing/2014/main" id="{0C2F9BEF-62DC-EB79-6B0C-FA3FC32DF97F}"/>
              </a:ext>
            </a:extLst>
          </p:cNvPr>
          <p:cNvCxnSpPr>
            <a:cxnSpLocks/>
          </p:cNvCxnSpPr>
          <p:nvPr/>
        </p:nvCxnSpPr>
        <p:spPr>
          <a:xfrm>
            <a:off x="3898900" y="8851900"/>
            <a:ext cx="1778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Target to 6mer">
            <a:extLst>
              <a:ext uri="{FF2B5EF4-FFF2-40B4-BE49-F238E27FC236}">
                <a16:creationId xmlns:a16="http://schemas.microsoft.com/office/drawing/2014/main" id="{AE8AA4D6-9CCF-745E-DC34-1F5D184B8FA6}"/>
              </a:ext>
            </a:extLst>
          </p:cNvPr>
          <p:cNvCxnSpPr>
            <a:cxnSpLocks/>
          </p:cNvCxnSpPr>
          <p:nvPr/>
        </p:nvCxnSpPr>
        <p:spPr>
          <a:xfrm>
            <a:off x="3898900" y="9715500"/>
            <a:ext cx="177800" cy="0"/>
          </a:xfrm>
          <a:prstGeom prst="line">
            <a:avLst/>
          </a:prstGeom>
          <a:ln w="19050">
            <a:solidFill>
              <a:srgbClr val="19191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ndpoint comparison divider">
            <a:extLst>
              <a:ext uri="{FF2B5EF4-FFF2-40B4-BE49-F238E27FC236}">
                <a16:creationId xmlns:a16="http://schemas.microsoft.com/office/drawing/2014/main" id="{A584092C-BC0F-8BA2-AC39-A88D2E0ABFB3}"/>
              </a:ext>
            </a:extLst>
          </p:cNvPr>
          <p:cNvCxnSpPr>
            <a:cxnSpLocks/>
          </p:cNvCxnSpPr>
          <p:nvPr/>
        </p:nvCxnSpPr>
        <p:spPr>
          <a:xfrm>
            <a:off x="228600" y="10477500"/>
            <a:ext cx="11734800" cy="0"/>
          </a:xfrm>
          <a:prstGeom prst="line">
            <a:avLst/>
          </a:prstGeom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ndpoint heading">
            <a:extLst>
              <a:ext uri="{FF2B5EF4-FFF2-40B4-BE49-F238E27FC236}">
                <a16:creationId xmlns:a16="http://schemas.microsoft.com/office/drawing/2014/main" id="{3F9FDDAD-5EAD-26E9-07BE-40323C8B473E}"/>
              </a:ext>
            </a:extLst>
          </p:cNvPr>
          <p:cNvSpPr txBox="1"/>
          <p:nvPr/>
        </p:nvSpPr>
        <p:spPr>
          <a:xfrm>
            <a:off x="228600" y="10579099"/>
            <a:ext cx="11734800" cy="34417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200" b="1">
                <a:solidFill>
                  <a:srgbClr val="191919"/>
                </a:solidFill>
                <a:latin typeface="Arial" panose="020B0604020202020204" pitchFamily="34" charset="0"/>
              </a:rPr>
              <a:t>End-of-training target prediction and recovery</a:t>
            </a:r>
            <a:endParaRPr lang="zh-CN" altLang="en-US" sz="220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3" name="Endpoint units">
            <a:extLst>
              <a:ext uri="{FF2B5EF4-FFF2-40B4-BE49-F238E27FC236}">
                <a16:creationId xmlns:a16="http://schemas.microsoft.com/office/drawing/2014/main" id="{AFFDF971-832D-2B95-198F-DC97C407C76E}"/>
              </a:ext>
            </a:extLst>
          </p:cNvPr>
          <p:cNvSpPr txBox="1"/>
          <p:nvPr/>
        </p:nvSpPr>
        <p:spPr>
          <a:xfrm>
            <a:off x="228600" y="10960099"/>
            <a:ext cx="117348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191919"/>
                </a:solidFill>
                <a:latin typeface="Arial" panose="020B0604020202020204" pitchFamily="34" charset="0"/>
              </a:rPr>
              <a:t>Teacher-forced target surprise in bits/nt, three-seed means</a:t>
            </a:r>
            <a:endParaRPr lang="zh-CN" altLang="en-US" sz="2160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4" name="Endpoint header 0">
            <a:extLst>
              <a:ext uri="{FF2B5EF4-FFF2-40B4-BE49-F238E27FC236}">
                <a16:creationId xmlns:a16="http://schemas.microsoft.com/office/drawing/2014/main" id="{525956B8-BD9E-7F4C-47D6-4C861402409B}"/>
              </a:ext>
            </a:extLst>
          </p:cNvPr>
          <p:cNvSpPr txBox="1"/>
          <p:nvPr/>
        </p:nvSpPr>
        <p:spPr>
          <a:xfrm>
            <a:off x="355600" y="11391899"/>
            <a:ext cx="22860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</a:rPr>
              <a:t>Tokenizer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5" name="Endpoint header 1">
            <a:extLst>
              <a:ext uri="{FF2B5EF4-FFF2-40B4-BE49-F238E27FC236}">
                <a16:creationId xmlns:a16="http://schemas.microsoft.com/office/drawing/2014/main" id="{6B6A79FC-A176-57C4-76B9-1B9129BAC4CC}"/>
              </a:ext>
            </a:extLst>
          </p:cNvPr>
          <p:cNvSpPr txBox="1"/>
          <p:nvPr/>
        </p:nvSpPr>
        <p:spPr>
          <a:xfrm>
            <a:off x="2844800" y="11391899"/>
            <a:ext cx="30226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</a:rPr>
              <a:t>Planted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6" name="Endpoint header 2">
            <a:extLst>
              <a:ext uri="{FF2B5EF4-FFF2-40B4-BE49-F238E27FC236}">
                <a16:creationId xmlns:a16="http://schemas.microsoft.com/office/drawing/2014/main" id="{C08BFC7A-A43C-2E00-72D6-F4F919A625BF}"/>
              </a:ext>
            </a:extLst>
          </p:cNvPr>
          <p:cNvSpPr txBox="1"/>
          <p:nvPr/>
        </p:nvSpPr>
        <p:spPr>
          <a:xfrm>
            <a:off x="6070600" y="11391899"/>
            <a:ext cx="32512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</a:rPr>
              <a:t>Control − planted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sp>
        <p:nvSpPr>
          <p:cNvPr id="7" name="Endpoint header 3">
            <a:extLst>
              <a:ext uri="{FF2B5EF4-FFF2-40B4-BE49-F238E27FC236}">
                <a16:creationId xmlns:a16="http://schemas.microsoft.com/office/drawing/2014/main" id="{6377E65E-19BA-8094-2238-7982F7B8060A}"/>
              </a:ext>
            </a:extLst>
          </p:cNvPr>
          <p:cNvSpPr txBox="1"/>
          <p:nvPr/>
        </p:nvSpPr>
        <p:spPr>
          <a:xfrm>
            <a:off x="9525000" y="11391899"/>
            <a:ext cx="24384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 b="1">
                <a:solidFill>
                  <a:srgbClr val="191919"/>
                </a:solidFill>
                <a:latin typeface="Arial" panose="020B0604020202020204" pitchFamily="34" charset="0"/>
              </a:rPr>
              <a:t>Recovery</a:t>
            </a:r>
            <a:endParaRPr lang="zh-CN" altLang="en-US" sz="2160" b="1">
              <a:solidFill>
                <a:srgbClr val="191919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Endpoint table header rule">
            <a:extLst>
              <a:ext uri="{FF2B5EF4-FFF2-40B4-BE49-F238E27FC236}">
                <a16:creationId xmlns:a16="http://schemas.microsoft.com/office/drawing/2014/main" id="{4D9E867C-3599-1ACF-5337-4FB81D7825DC}"/>
              </a:ext>
            </a:extLst>
          </p:cNvPr>
          <p:cNvCxnSpPr/>
          <p:nvPr/>
        </p:nvCxnSpPr>
        <p:spPr>
          <a:xfrm>
            <a:off x="228600" y="11747500"/>
            <a:ext cx="11734800" cy="0"/>
          </a:xfrm>
          <a:prstGeom prst="line">
            <a:avLst/>
          </a:prstGeom>
          <a:ln w="8890">
            <a:solidFill>
              <a:srgbClr val="BEBE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ndpoint row 0 column 0">
            <a:extLst>
              <a:ext uri="{FF2B5EF4-FFF2-40B4-BE49-F238E27FC236}">
                <a16:creationId xmlns:a16="http://schemas.microsoft.com/office/drawing/2014/main" id="{1CAFDC40-EA9B-CC43-DFE4-FE69F19848CC}"/>
              </a:ext>
            </a:extLst>
          </p:cNvPr>
          <p:cNvSpPr txBox="1"/>
          <p:nvPr/>
        </p:nvSpPr>
        <p:spPr>
          <a:xfrm>
            <a:off x="355600" y="11810999"/>
            <a:ext cx="22860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3B66A5"/>
                </a:solidFill>
                <a:latin typeface="Arial" panose="020B0604020202020204" pitchFamily="34" charset="0"/>
              </a:rPr>
              <a:t>2-mer</a:t>
            </a:r>
            <a:endParaRPr lang="zh-CN" altLang="en-US" sz="2160">
              <a:solidFill>
                <a:srgbClr val="3B66A5"/>
              </a:solidFill>
              <a:latin typeface="Arial" panose="020B0604020202020204" pitchFamily="34" charset="0"/>
            </a:endParaRPr>
          </a:p>
        </p:txBody>
      </p:sp>
      <p:sp>
        <p:nvSpPr>
          <p:cNvPr id="10" name="Endpoint row 0 column 1">
            <a:extLst>
              <a:ext uri="{FF2B5EF4-FFF2-40B4-BE49-F238E27FC236}">
                <a16:creationId xmlns:a16="http://schemas.microsoft.com/office/drawing/2014/main" id="{F3A6E09D-7F99-52ED-2D87-03A14DAC8D4D}"/>
              </a:ext>
            </a:extLst>
          </p:cNvPr>
          <p:cNvSpPr txBox="1"/>
          <p:nvPr/>
        </p:nvSpPr>
        <p:spPr>
          <a:xfrm>
            <a:off x="2844800" y="11810999"/>
            <a:ext cx="30226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3B66A5"/>
                </a:solidFill>
                <a:latin typeface="Arial" panose="020B0604020202020204" pitchFamily="34" charset="0"/>
              </a:rPr>
              <a:t>0.824</a:t>
            </a:r>
            <a:endParaRPr lang="zh-CN" altLang="en-US" sz="2160">
              <a:solidFill>
                <a:srgbClr val="3B66A5"/>
              </a:solidFill>
              <a:latin typeface="Arial" panose="020B0604020202020204" pitchFamily="34" charset="0"/>
            </a:endParaRPr>
          </a:p>
        </p:txBody>
      </p:sp>
      <p:sp>
        <p:nvSpPr>
          <p:cNvPr id="11" name="Endpoint row 0 column 2">
            <a:extLst>
              <a:ext uri="{FF2B5EF4-FFF2-40B4-BE49-F238E27FC236}">
                <a16:creationId xmlns:a16="http://schemas.microsoft.com/office/drawing/2014/main" id="{A2CDB2F5-F272-D379-0415-AFCB2D0B22F3}"/>
              </a:ext>
            </a:extLst>
          </p:cNvPr>
          <p:cNvSpPr txBox="1"/>
          <p:nvPr/>
        </p:nvSpPr>
        <p:spPr>
          <a:xfrm>
            <a:off x="6070600" y="11810999"/>
            <a:ext cx="32512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3B66A5"/>
                </a:solidFill>
                <a:latin typeface="Arial" panose="020B0604020202020204" pitchFamily="34" charset="0"/>
              </a:rPr>
              <a:t>2.44</a:t>
            </a:r>
            <a:endParaRPr lang="zh-CN" altLang="en-US" sz="2160">
              <a:solidFill>
                <a:srgbClr val="3B66A5"/>
              </a:solidFill>
              <a:latin typeface="Arial" panose="020B0604020202020204" pitchFamily="34" charset="0"/>
            </a:endParaRPr>
          </a:p>
        </p:txBody>
      </p:sp>
      <p:sp>
        <p:nvSpPr>
          <p:cNvPr id="473" name="Endpoint row 0 column 3">
            <a:extLst>
              <a:ext uri="{FF2B5EF4-FFF2-40B4-BE49-F238E27FC236}">
                <a16:creationId xmlns:a16="http://schemas.microsoft.com/office/drawing/2014/main" id="{0916C713-3F13-15AE-6806-5CA08AE11168}"/>
              </a:ext>
            </a:extLst>
          </p:cNvPr>
          <p:cNvSpPr txBox="1"/>
          <p:nvPr/>
        </p:nvSpPr>
        <p:spPr>
          <a:xfrm>
            <a:off x="9525000" y="11810999"/>
            <a:ext cx="24384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3B66A5"/>
                </a:solidFill>
                <a:latin typeface="Arial" panose="020B0604020202020204" pitchFamily="34" charset="0"/>
              </a:rPr>
              <a:t>0%</a:t>
            </a:r>
            <a:endParaRPr lang="zh-CN" altLang="en-US" sz="2160">
              <a:solidFill>
                <a:srgbClr val="3B66A5"/>
              </a:solidFill>
              <a:latin typeface="Arial" panose="020B0604020202020204" pitchFamily="34" charset="0"/>
            </a:endParaRPr>
          </a:p>
        </p:txBody>
      </p:sp>
      <p:sp>
        <p:nvSpPr>
          <p:cNvPr id="474" name="Endpoint row 1 column 0">
            <a:extLst>
              <a:ext uri="{FF2B5EF4-FFF2-40B4-BE49-F238E27FC236}">
                <a16:creationId xmlns:a16="http://schemas.microsoft.com/office/drawing/2014/main" id="{3E162E27-C8D1-C0F6-9403-C5580E5C0CF1}"/>
              </a:ext>
            </a:extLst>
          </p:cNvPr>
          <p:cNvSpPr txBox="1"/>
          <p:nvPr/>
        </p:nvSpPr>
        <p:spPr>
          <a:xfrm>
            <a:off x="355600" y="12191999"/>
            <a:ext cx="22860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D4773A"/>
                </a:solidFill>
                <a:latin typeface="Arial" panose="020B0604020202020204" pitchFamily="34" charset="0"/>
              </a:rPr>
              <a:t>6-mer</a:t>
            </a:r>
            <a:endParaRPr lang="zh-CN" altLang="en-US" sz="2160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75" name="Endpoint row 1 column 1">
            <a:extLst>
              <a:ext uri="{FF2B5EF4-FFF2-40B4-BE49-F238E27FC236}">
                <a16:creationId xmlns:a16="http://schemas.microsoft.com/office/drawing/2014/main" id="{2885BC5A-D590-357C-193F-7E50E92B33CB}"/>
              </a:ext>
            </a:extLst>
          </p:cNvPr>
          <p:cNvSpPr txBox="1"/>
          <p:nvPr/>
        </p:nvSpPr>
        <p:spPr>
          <a:xfrm>
            <a:off x="2844800" y="12191999"/>
            <a:ext cx="30226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D4773A"/>
                </a:solidFill>
                <a:latin typeface="Arial" panose="020B0604020202020204" pitchFamily="34" charset="0"/>
              </a:rPr>
              <a:t>0.0052</a:t>
            </a:r>
            <a:endParaRPr lang="zh-CN" altLang="en-US" sz="2160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76" name="Endpoint row 1 column 2">
            <a:extLst>
              <a:ext uri="{FF2B5EF4-FFF2-40B4-BE49-F238E27FC236}">
                <a16:creationId xmlns:a16="http://schemas.microsoft.com/office/drawing/2014/main" id="{D95ABAA6-0286-4E0B-F73A-73CE325DC898}"/>
              </a:ext>
            </a:extLst>
          </p:cNvPr>
          <p:cNvSpPr txBox="1"/>
          <p:nvPr/>
        </p:nvSpPr>
        <p:spPr>
          <a:xfrm>
            <a:off x="6070600" y="12191999"/>
            <a:ext cx="32512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D4773A"/>
                </a:solidFill>
                <a:latin typeface="Arial" panose="020B0604020202020204" pitchFamily="34" charset="0"/>
              </a:rPr>
              <a:t>2.79</a:t>
            </a:r>
            <a:endParaRPr lang="zh-CN" altLang="en-US" sz="2160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  <p:sp>
        <p:nvSpPr>
          <p:cNvPr id="477" name="Endpoint row 1 column 3">
            <a:extLst>
              <a:ext uri="{FF2B5EF4-FFF2-40B4-BE49-F238E27FC236}">
                <a16:creationId xmlns:a16="http://schemas.microsoft.com/office/drawing/2014/main" id="{A784331B-1341-9434-7AFE-FE6146B11CF3}"/>
              </a:ext>
            </a:extLst>
          </p:cNvPr>
          <p:cNvSpPr txBox="1"/>
          <p:nvPr/>
        </p:nvSpPr>
        <p:spPr>
          <a:xfrm>
            <a:off x="9525000" y="12191999"/>
            <a:ext cx="2438400" cy="33807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2160">
                <a:solidFill>
                  <a:srgbClr val="D4773A"/>
                </a:solidFill>
                <a:latin typeface="Arial" panose="020B0604020202020204" pitchFamily="34" charset="0"/>
              </a:rPr>
              <a:t>100%</a:t>
            </a:r>
            <a:endParaRPr lang="zh-CN" altLang="en-US" sz="2160">
              <a:solidFill>
                <a:srgbClr val="D4773A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CCE8C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</Words>
  <Application>Microsoft Office PowerPoint</Application>
  <PresentationFormat>自定义</PresentationFormat>
  <Paragraphs>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ImageToEditablePPT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to editable PPT</dc:title>
  <cp:lastModifiedBy>Spencer Zhang</cp:lastModifiedBy>
  <cp:revision>4</cp:revision>
  <dcterms:modified xsi:type="dcterms:W3CDTF">2026-11-01T05:10:00Z</dcterms:modified>
</cp:coreProperties>
</file>